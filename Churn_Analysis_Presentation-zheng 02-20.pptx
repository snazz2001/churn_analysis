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9" r:id="rId14"/>
    <p:sldId id="267" r:id="rId15"/>
    <p:sldId id="268"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144" y="17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1831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680A3-33BE-94CC-783C-C5AD91B4D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3BF77-9B45-7019-8C86-C3DE3BDDF2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400EE-B984-3DFD-258F-006174241B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874F8A-E5E1-4D50-72B8-9BFD792EF5C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977069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shorturl.at/nuPUR"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hbr.org/2014/10/the-value-of-keeping-the-right-customers"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kaggle.com/datasets/theaimindset/customer-behavior-and-churn-simulation-dataset" TargetMode="External"/><Relationship Id="rId2" Type="http://schemas.openxmlformats.org/officeDocument/2006/relationships/hyperlink" Target="https://github.com/Snazz2001/churn_analysis/blob/main/churn_analysis.ipynb" TargetMode="External"/><Relationship Id="rId1" Type="http://schemas.openxmlformats.org/officeDocument/2006/relationships/slideLayout" Target="../slideLayouts/slideLayout1.xml"/><Relationship Id="rId4" Type="http://schemas.openxmlformats.org/officeDocument/2006/relationships/hyperlink" Target="https://github.com/Snazz2001/churn_analysis/blob/main/impact_estimation.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4B82"/>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4A5F"/>
          </a:solidFill>
          <a:ln/>
        </p:spPr>
        <p:txBody>
          <a:bodyPr/>
          <a:lstStyle/>
          <a:p>
            <a:endParaRPr lang="en-GB"/>
          </a:p>
        </p:txBody>
      </p:sp>
      <p:sp>
        <p:nvSpPr>
          <p:cNvPr id="3" name="Shape 1"/>
          <p:cNvSpPr/>
          <p:nvPr/>
        </p:nvSpPr>
        <p:spPr>
          <a:xfrm>
            <a:off x="6858000" y="-914400"/>
            <a:ext cx="4114800" cy="4114800"/>
          </a:xfrm>
          <a:prstGeom prst="ellipse">
            <a:avLst/>
          </a:prstGeom>
          <a:solidFill>
            <a:srgbClr val="FFFFFF">
              <a:alpha val="7000"/>
            </a:srgbClr>
          </a:solidFill>
          <a:ln w="12700">
            <a:solidFill>
              <a:srgbClr val="FFFFFF"/>
            </a:solidFill>
            <a:prstDash val="solid"/>
          </a:ln>
        </p:spPr>
        <p:txBody>
          <a:bodyPr/>
          <a:lstStyle/>
          <a:p>
            <a:endParaRPr lang="en-GB"/>
          </a:p>
        </p:txBody>
      </p:sp>
      <p:sp>
        <p:nvSpPr>
          <p:cNvPr id="4" name="Shape 2"/>
          <p:cNvSpPr/>
          <p:nvPr/>
        </p:nvSpPr>
        <p:spPr>
          <a:xfrm>
            <a:off x="7498080" y="2286000"/>
            <a:ext cx="2743200" cy="2743200"/>
          </a:xfrm>
          <a:prstGeom prst="ellipse">
            <a:avLst/>
          </a:prstGeom>
          <a:solidFill>
            <a:srgbClr val="FFFFFF">
              <a:alpha val="10000"/>
            </a:srgbClr>
          </a:solidFill>
          <a:ln w="12700">
            <a:solidFill>
              <a:srgbClr val="FFFFFF"/>
            </a:solidFill>
            <a:prstDash val="solid"/>
          </a:ln>
        </p:spPr>
        <p:txBody>
          <a:bodyPr/>
          <a:lstStyle/>
          <a:p>
            <a:endParaRPr lang="en-GB"/>
          </a:p>
        </p:txBody>
      </p:sp>
      <p:sp>
        <p:nvSpPr>
          <p:cNvPr id="5" name="Text 3"/>
          <p:cNvSpPr/>
          <p:nvPr/>
        </p:nvSpPr>
        <p:spPr>
          <a:xfrm>
            <a:off x="411480" y="731520"/>
            <a:ext cx="7772400" cy="12801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Customer </a:t>
            </a:r>
            <a:r>
              <a:rPr lang="en-US" altLang="zh-CN" sz="4400" b="1" dirty="0">
                <a:solidFill>
                  <a:srgbClr val="FFFFFF"/>
                </a:solidFill>
                <a:latin typeface="Calibri" pitchFamily="34" charset="0"/>
                <a:ea typeface="Calibri" pitchFamily="34" charset="-122"/>
                <a:cs typeface="Calibri" pitchFamily="34" charset="-120"/>
              </a:rPr>
              <a:t>Behavior &amp; </a:t>
            </a:r>
            <a:r>
              <a:rPr lang="en-US" sz="4400" b="1" dirty="0">
                <a:solidFill>
                  <a:srgbClr val="FFFFFF"/>
                </a:solidFill>
                <a:latin typeface="Calibri" pitchFamily="34" charset="0"/>
                <a:ea typeface="Calibri" pitchFamily="34" charset="-122"/>
                <a:cs typeface="Calibri" pitchFamily="34" charset="-120"/>
              </a:rPr>
              <a:t>Churn Analysis</a:t>
            </a:r>
            <a:endParaRPr lang="en-US" sz="4400" dirty="0"/>
          </a:p>
        </p:txBody>
      </p:sp>
      <p:sp>
        <p:nvSpPr>
          <p:cNvPr id="6" name="Shape 4"/>
          <p:cNvSpPr/>
          <p:nvPr/>
        </p:nvSpPr>
        <p:spPr>
          <a:xfrm>
            <a:off x="411480" y="2057400"/>
            <a:ext cx="4572000" cy="36576"/>
          </a:xfrm>
          <a:prstGeom prst="rect">
            <a:avLst/>
          </a:prstGeom>
          <a:solidFill>
            <a:srgbClr val="E84A5F"/>
          </a:solidFill>
          <a:ln/>
        </p:spPr>
        <p:txBody>
          <a:bodyPr/>
          <a:lstStyle/>
          <a:p>
            <a:endParaRPr lang="en-GB"/>
          </a:p>
        </p:txBody>
      </p:sp>
      <p:sp>
        <p:nvSpPr>
          <p:cNvPr id="7" name="Text 5"/>
          <p:cNvSpPr/>
          <p:nvPr/>
        </p:nvSpPr>
        <p:spPr>
          <a:xfrm>
            <a:off x="411480" y="2148840"/>
            <a:ext cx="6858000" cy="502920"/>
          </a:xfrm>
          <a:prstGeom prst="rect">
            <a:avLst/>
          </a:prstGeom>
          <a:noFill/>
          <a:ln/>
        </p:spPr>
        <p:txBody>
          <a:bodyPr wrap="square" lIns="0" tIns="0" rIns="0" bIns="0" rtlCol="0" anchor="ctr"/>
          <a:lstStyle/>
          <a:p>
            <a:pPr marL="0" indent="0">
              <a:buNone/>
            </a:pPr>
            <a:r>
              <a:rPr lang="en-US" sz="2000" dirty="0">
                <a:solidFill>
                  <a:srgbClr val="A8C5E8"/>
                </a:solidFill>
                <a:latin typeface="Calibri" pitchFamily="34" charset="0"/>
                <a:ea typeface="Calibri" pitchFamily="34" charset="-122"/>
                <a:cs typeface="Calibri" pitchFamily="34" charset="-120"/>
              </a:rPr>
              <a:t>Regression Analysis &amp; Business Insights</a:t>
            </a:r>
            <a:endParaRPr lang="en-US" sz="2000" dirty="0"/>
          </a:p>
        </p:txBody>
      </p:sp>
      <p:sp>
        <p:nvSpPr>
          <p:cNvPr id="8" name="Text 6"/>
          <p:cNvSpPr/>
          <p:nvPr/>
        </p:nvSpPr>
        <p:spPr>
          <a:xfrm>
            <a:off x="1893346" y="2697480"/>
            <a:ext cx="5376134" cy="365760"/>
          </a:xfrm>
          <a:prstGeom prst="rect">
            <a:avLst/>
          </a:prstGeom>
          <a:noFill/>
          <a:ln/>
        </p:spPr>
        <p:txBody>
          <a:bodyPr wrap="square" lIns="0" tIns="0" rIns="0" bIns="0" rtlCol="0" anchor="ctr"/>
          <a:lstStyle/>
          <a:p>
            <a:pPr marL="0" indent="0">
              <a:buNone/>
            </a:pPr>
            <a:r>
              <a:rPr lang="en-US" sz="1500" dirty="0"/>
              <a:t>				</a:t>
            </a:r>
            <a:r>
              <a:rPr lang="en-US" sz="1500" dirty="0">
                <a:solidFill>
                  <a:schemeClr val="bg1"/>
                </a:solidFill>
              </a:rPr>
              <a:t>         Zheng Zhu</a:t>
            </a:r>
          </a:p>
        </p:txBody>
      </p:sp>
      <p:sp>
        <p:nvSpPr>
          <p:cNvPr id="9" name="Shape 7"/>
          <p:cNvSpPr/>
          <p:nvPr/>
        </p:nvSpPr>
        <p:spPr>
          <a:xfrm>
            <a:off x="411480" y="3337560"/>
            <a:ext cx="2011680" cy="1371600"/>
          </a:xfrm>
          <a:prstGeom prst="rect">
            <a:avLst/>
          </a:prstGeom>
          <a:solidFill>
            <a:srgbClr val="2E86AB">
              <a:alpha val="80000"/>
            </a:srgbClr>
          </a:solidFill>
          <a:ln w="19050">
            <a:solidFill>
              <a:srgbClr val="2E86AB"/>
            </a:solidFill>
            <a:prstDash val="solid"/>
          </a:ln>
          <a:effectLst>
            <a:outerShdw blurRad="101600" dist="38100" dir="8100000" algn="bl" rotWithShape="0">
              <a:srgbClr val="000000">
                <a:alpha val="12000"/>
              </a:srgbClr>
            </a:outerShdw>
          </a:effectLst>
        </p:spPr>
        <p:txBody>
          <a:bodyPr/>
          <a:lstStyle/>
          <a:p>
            <a:endParaRPr lang="en-GB"/>
          </a:p>
        </p:txBody>
      </p:sp>
      <p:sp>
        <p:nvSpPr>
          <p:cNvPr id="10" name="Text 8"/>
          <p:cNvSpPr/>
          <p:nvPr/>
        </p:nvSpPr>
        <p:spPr>
          <a:xfrm>
            <a:off x="411480" y="3401568"/>
            <a:ext cx="2011680" cy="685800"/>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15,000</a:t>
            </a:r>
            <a:endParaRPr lang="en-US" sz="2600" dirty="0"/>
          </a:p>
        </p:txBody>
      </p:sp>
      <p:sp>
        <p:nvSpPr>
          <p:cNvPr id="11" name="Text 9"/>
          <p:cNvSpPr/>
          <p:nvPr/>
        </p:nvSpPr>
        <p:spPr>
          <a:xfrm>
            <a:off x="411480" y="4069080"/>
            <a:ext cx="2011680" cy="502920"/>
          </a:xfrm>
          <a:prstGeom prst="rect">
            <a:avLst/>
          </a:prstGeom>
          <a:noFill/>
          <a:ln/>
        </p:spPr>
        <p:txBody>
          <a:bodyPr wrap="square" lIns="0" tIns="0" rIns="0" bIns="0" rtlCol="0" anchor="t"/>
          <a:lstStyle/>
          <a:p>
            <a:pPr marL="0" indent="0" algn="ctr">
              <a:buNone/>
            </a:pPr>
            <a:r>
              <a:rPr lang="en-US" sz="1100" dirty="0">
                <a:solidFill>
                  <a:srgbClr val="C8DDF5"/>
                </a:solidFill>
                <a:latin typeface="Calibri" pitchFamily="34" charset="0"/>
                <a:ea typeface="Calibri" pitchFamily="34" charset="-122"/>
                <a:cs typeface="Calibri" pitchFamily="34" charset="-120"/>
              </a:rPr>
              <a:t>Total Customers</a:t>
            </a:r>
            <a:endParaRPr lang="en-US" sz="1100" dirty="0"/>
          </a:p>
        </p:txBody>
      </p:sp>
      <p:sp>
        <p:nvSpPr>
          <p:cNvPr id="12" name="Shape 10"/>
          <p:cNvSpPr/>
          <p:nvPr/>
        </p:nvSpPr>
        <p:spPr>
          <a:xfrm>
            <a:off x="2624328" y="3337560"/>
            <a:ext cx="2011680" cy="1371600"/>
          </a:xfrm>
          <a:prstGeom prst="rect">
            <a:avLst/>
          </a:prstGeom>
          <a:solidFill>
            <a:srgbClr val="E84A5F">
              <a:alpha val="80000"/>
            </a:srgbClr>
          </a:solidFill>
          <a:ln w="19050">
            <a:solidFill>
              <a:srgbClr val="E84A5F"/>
            </a:solidFill>
            <a:prstDash val="solid"/>
          </a:ln>
          <a:effectLst>
            <a:outerShdw blurRad="101600" dist="38100" dir="8100000" algn="bl" rotWithShape="0">
              <a:srgbClr val="000000">
                <a:alpha val="12000"/>
              </a:srgbClr>
            </a:outerShdw>
          </a:effectLst>
        </p:spPr>
        <p:txBody>
          <a:bodyPr/>
          <a:lstStyle/>
          <a:p>
            <a:endParaRPr lang="en-GB"/>
          </a:p>
        </p:txBody>
      </p:sp>
      <p:sp>
        <p:nvSpPr>
          <p:cNvPr id="13" name="Text 11"/>
          <p:cNvSpPr/>
          <p:nvPr/>
        </p:nvSpPr>
        <p:spPr>
          <a:xfrm>
            <a:off x="2624328" y="3401568"/>
            <a:ext cx="2011680" cy="685800"/>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31.9%</a:t>
            </a:r>
            <a:endParaRPr lang="en-US" sz="2600" dirty="0"/>
          </a:p>
        </p:txBody>
      </p:sp>
      <p:sp>
        <p:nvSpPr>
          <p:cNvPr id="14" name="Text 12"/>
          <p:cNvSpPr/>
          <p:nvPr/>
        </p:nvSpPr>
        <p:spPr>
          <a:xfrm>
            <a:off x="2624328" y="4069080"/>
            <a:ext cx="2011680" cy="502920"/>
          </a:xfrm>
          <a:prstGeom prst="rect">
            <a:avLst/>
          </a:prstGeom>
          <a:noFill/>
          <a:ln/>
        </p:spPr>
        <p:txBody>
          <a:bodyPr wrap="square" lIns="0" tIns="0" rIns="0" bIns="0" rtlCol="0" anchor="t"/>
          <a:lstStyle/>
          <a:p>
            <a:pPr marL="0" indent="0" algn="ctr">
              <a:buNone/>
            </a:pPr>
            <a:r>
              <a:rPr lang="en-US" sz="1100" dirty="0">
                <a:solidFill>
                  <a:srgbClr val="C8DDF5"/>
                </a:solidFill>
                <a:latin typeface="Calibri" pitchFamily="34" charset="0"/>
                <a:ea typeface="Calibri" pitchFamily="34" charset="-122"/>
                <a:cs typeface="Calibri" pitchFamily="34" charset="-120"/>
              </a:rPr>
              <a:t>Churn Rate</a:t>
            </a:r>
            <a:endParaRPr lang="en-US" sz="1100" dirty="0"/>
          </a:p>
        </p:txBody>
      </p:sp>
      <p:sp>
        <p:nvSpPr>
          <p:cNvPr id="15" name="Shape 13"/>
          <p:cNvSpPr/>
          <p:nvPr/>
        </p:nvSpPr>
        <p:spPr>
          <a:xfrm>
            <a:off x="4837176" y="3337560"/>
            <a:ext cx="2011680" cy="1371600"/>
          </a:xfrm>
          <a:prstGeom prst="rect">
            <a:avLst/>
          </a:prstGeom>
          <a:solidFill>
            <a:srgbClr val="028090">
              <a:alpha val="80000"/>
            </a:srgbClr>
          </a:solidFill>
          <a:ln w="19050">
            <a:solidFill>
              <a:srgbClr val="028090"/>
            </a:solidFill>
            <a:prstDash val="solid"/>
          </a:ln>
          <a:effectLst>
            <a:outerShdw blurRad="101600" dist="38100" dir="8100000" algn="bl" rotWithShape="0">
              <a:srgbClr val="000000">
                <a:alpha val="12000"/>
              </a:srgbClr>
            </a:outerShdw>
          </a:effectLst>
        </p:spPr>
        <p:txBody>
          <a:bodyPr/>
          <a:lstStyle/>
          <a:p>
            <a:endParaRPr lang="en-GB"/>
          </a:p>
        </p:txBody>
      </p:sp>
      <p:sp>
        <p:nvSpPr>
          <p:cNvPr id="16" name="Text 14"/>
          <p:cNvSpPr/>
          <p:nvPr/>
        </p:nvSpPr>
        <p:spPr>
          <a:xfrm>
            <a:off x="4837176" y="3401568"/>
            <a:ext cx="2011680" cy="685800"/>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0.973</a:t>
            </a:r>
            <a:endParaRPr lang="en-US" sz="2600" dirty="0"/>
          </a:p>
        </p:txBody>
      </p:sp>
      <p:sp>
        <p:nvSpPr>
          <p:cNvPr id="17" name="Text 15"/>
          <p:cNvSpPr/>
          <p:nvPr/>
        </p:nvSpPr>
        <p:spPr>
          <a:xfrm>
            <a:off x="4837176" y="4069080"/>
            <a:ext cx="2011680" cy="502920"/>
          </a:xfrm>
          <a:prstGeom prst="rect">
            <a:avLst/>
          </a:prstGeom>
          <a:noFill/>
          <a:ln/>
        </p:spPr>
        <p:txBody>
          <a:bodyPr wrap="square" lIns="0" tIns="0" rIns="0" bIns="0" rtlCol="0" anchor="t"/>
          <a:lstStyle/>
          <a:p>
            <a:pPr marL="0" indent="0" algn="ctr">
              <a:buNone/>
            </a:pPr>
            <a:r>
              <a:rPr lang="en-US" sz="1100" dirty="0">
                <a:solidFill>
                  <a:srgbClr val="C8DDF5"/>
                </a:solidFill>
                <a:latin typeface="Calibri" pitchFamily="34" charset="0"/>
                <a:ea typeface="Calibri" pitchFamily="34" charset="-122"/>
                <a:cs typeface="Calibri" pitchFamily="34" charset="-120"/>
              </a:rPr>
              <a:t>Model AUC</a:t>
            </a:r>
            <a:endParaRPr lang="en-US" sz="1100" dirty="0"/>
          </a:p>
        </p:txBody>
      </p:sp>
      <p:sp>
        <p:nvSpPr>
          <p:cNvPr id="18" name="Shape 16"/>
          <p:cNvSpPr/>
          <p:nvPr/>
        </p:nvSpPr>
        <p:spPr>
          <a:xfrm>
            <a:off x="7050024" y="3337560"/>
            <a:ext cx="2011680" cy="1371600"/>
          </a:xfrm>
          <a:prstGeom prst="rect">
            <a:avLst/>
          </a:prstGeom>
          <a:solidFill>
            <a:srgbClr val="1C7C3D">
              <a:alpha val="80000"/>
            </a:srgbClr>
          </a:solidFill>
          <a:ln w="19050">
            <a:solidFill>
              <a:srgbClr val="1C7C3D"/>
            </a:solidFill>
            <a:prstDash val="solid"/>
          </a:ln>
          <a:effectLst>
            <a:outerShdw blurRad="101600" dist="38100" dir="8100000" algn="bl" rotWithShape="0">
              <a:srgbClr val="000000">
                <a:alpha val="12000"/>
              </a:srgbClr>
            </a:outerShdw>
          </a:effectLst>
        </p:spPr>
        <p:txBody>
          <a:bodyPr/>
          <a:lstStyle/>
          <a:p>
            <a:endParaRPr lang="en-GB"/>
          </a:p>
        </p:txBody>
      </p:sp>
      <p:sp>
        <p:nvSpPr>
          <p:cNvPr id="19" name="Text 17"/>
          <p:cNvSpPr/>
          <p:nvPr/>
        </p:nvSpPr>
        <p:spPr>
          <a:xfrm>
            <a:off x="7050024" y="3401568"/>
            <a:ext cx="2011680" cy="685800"/>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0.692</a:t>
            </a:r>
            <a:endParaRPr lang="en-US" sz="2600" dirty="0"/>
          </a:p>
        </p:txBody>
      </p:sp>
      <p:sp>
        <p:nvSpPr>
          <p:cNvPr id="20" name="Text 18"/>
          <p:cNvSpPr/>
          <p:nvPr/>
        </p:nvSpPr>
        <p:spPr>
          <a:xfrm>
            <a:off x="7050024" y="4069080"/>
            <a:ext cx="2011680" cy="502920"/>
          </a:xfrm>
          <a:prstGeom prst="rect">
            <a:avLst/>
          </a:prstGeom>
          <a:noFill/>
          <a:ln/>
        </p:spPr>
        <p:txBody>
          <a:bodyPr wrap="square" lIns="0" tIns="0" rIns="0" bIns="0" rtlCol="0" anchor="t"/>
          <a:lstStyle/>
          <a:p>
            <a:pPr marL="0" indent="0" algn="ctr">
              <a:buNone/>
            </a:pPr>
            <a:r>
              <a:rPr lang="en-US" sz="1100" dirty="0">
                <a:solidFill>
                  <a:srgbClr val="C8DDF5"/>
                </a:solidFill>
                <a:latin typeface="Calibri" pitchFamily="34" charset="0"/>
                <a:ea typeface="Calibri" pitchFamily="34" charset="-122"/>
                <a:cs typeface="Calibri" pitchFamily="34" charset="-120"/>
              </a:rPr>
              <a:t>Pseudo-R²</a:t>
            </a:r>
            <a:endParaRPr lang="en-US" sz="1100" dirty="0"/>
          </a:p>
        </p:txBody>
      </p:sp>
      <p:sp>
        <p:nvSpPr>
          <p:cNvPr id="21" name="Text 19"/>
          <p:cNvSpPr/>
          <p:nvPr/>
        </p:nvSpPr>
        <p:spPr>
          <a:xfrm>
            <a:off x="411480" y="4800600"/>
            <a:ext cx="8321040" cy="228600"/>
          </a:xfrm>
          <a:prstGeom prst="rect">
            <a:avLst/>
          </a:prstGeom>
          <a:noFill/>
          <a:ln/>
        </p:spPr>
        <p:txBody>
          <a:bodyPr wrap="square" lIns="0" tIns="0" rIns="0" bIns="0" rtlCol="0" anchor="ctr"/>
          <a:lstStyle/>
          <a:p>
            <a:pPr marL="0" indent="0" algn="l">
              <a:buNone/>
            </a:pPr>
            <a:r>
              <a:rPr lang="en-US" sz="1000" dirty="0">
                <a:solidFill>
                  <a:srgbClr val="6A8CB8"/>
                </a:solidFill>
                <a:latin typeface="Calibri" pitchFamily="34" charset="0"/>
                <a:ea typeface="Calibri" pitchFamily="34" charset="-122"/>
                <a:cs typeface="Calibri" pitchFamily="34" charset="-120"/>
              </a:rPr>
              <a:t>| February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457200" y="137160"/>
            <a:ext cx="8229600" cy="7772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Shape 2"/>
          <p:cNvSpPr/>
          <p:nvPr/>
        </p:nvSpPr>
        <p:spPr>
          <a:xfrm>
            <a:off x="457200" y="1143000"/>
            <a:ext cx="411480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5" name="Shape 3"/>
          <p:cNvSpPr/>
          <p:nvPr/>
        </p:nvSpPr>
        <p:spPr>
          <a:xfrm>
            <a:off x="457200" y="1143000"/>
            <a:ext cx="502920" cy="1051560"/>
          </a:xfrm>
          <a:prstGeom prst="rect">
            <a:avLst/>
          </a:prstGeom>
          <a:solidFill>
            <a:srgbClr val="1C4B82"/>
          </a:solidFill>
          <a:ln/>
        </p:spPr>
        <p:txBody>
          <a:bodyPr/>
          <a:lstStyle/>
          <a:p>
            <a:endParaRPr lang="en-GB"/>
          </a:p>
        </p:txBody>
      </p:sp>
      <p:sp>
        <p:nvSpPr>
          <p:cNvPr id="6" name="Text 4"/>
          <p:cNvSpPr/>
          <p:nvPr/>
        </p:nvSpPr>
        <p:spPr>
          <a:xfrm>
            <a:off x="457200" y="1143000"/>
            <a:ext cx="50292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1051560" y="1234440"/>
            <a:ext cx="34290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Business Context</a:t>
            </a:r>
            <a:endParaRPr lang="en-US" sz="1300" dirty="0"/>
          </a:p>
        </p:txBody>
      </p:sp>
      <p:sp>
        <p:nvSpPr>
          <p:cNvPr id="8" name="Text 6"/>
          <p:cNvSpPr/>
          <p:nvPr/>
        </p:nvSpPr>
        <p:spPr>
          <a:xfrm>
            <a:off x="1051560" y="1600200"/>
            <a:ext cx="342900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Industry overview, the churn problem, and why it matters to management</a:t>
            </a:r>
            <a:endParaRPr lang="en-US" sz="1050" dirty="0"/>
          </a:p>
        </p:txBody>
      </p:sp>
      <p:sp>
        <p:nvSpPr>
          <p:cNvPr id="9" name="Shape 7"/>
          <p:cNvSpPr/>
          <p:nvPr/>
        </p:nvSpPr>
        <p:spPr>
          <a:xfrm>
            <a:off x="457200" y="2377440"/>
            <a:ext cx="411480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10" name="Shape 8"/>
          <p:cNvSpPr/>
          <p:nvPr/>
        </p:nvSpPr>
        <p:spPr>
          <a:xfrm>
            <a:off x="457200" y="2377440"/>
            <a:ext cx="502920" cy="1051560"/>
          </a:xfrm>
          <a:prstGeom prst="rect">
            <a:avLst/>
          </a:prstGeom>
          <a:solidFill>
            <a:srgbClr val="1C4B82"/>
          </a:solidFill>
          <a:ln/>
        </p:spPr>
        <p:txBody>
          <a:bodyPr/>
          <a:lstStyle/>
          <a:p>
            <a:endParaRPr lang="en-GB"/>
          </a:p>
        </p:txBody>
      </p:sp>
      <p:sp>
        <p:nvSpPr>
          <p:cNvPr id="11" name="Text 9"/>
          <p:cNvSpPr/>
          <p:nvPr/>
        </p:nvSpPr>
        <p:spPr>
          <a:xfrm>
            <a:off x="457200" y="2377440"/>
            <a:ext cx="50292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2" name="Text 10"/>
          <p:cNvSpPr/>
          <p:nvPr/>
        </p:nvSpPr>
        <p:spPr>
          <a:xfrm>
            <a:off x="1051560" y="2468880"/>
            <a:ext cx="34290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Research Questions</a:t>
            </a:r>
            <a:endParaRPr lang="en-US" sz="1300" dirty="0"/>
          </a:p>
        </p:txBody>
      </p:sp>
      <p:sp>
        <p:nvSpPr>
          <p:cNvPr id="13" name="Text 11"/>
          <p:cNvSpPr/>
          <p:nvPr/>
        </p:nvSpPr>
        <p:spPr>
          <a:xfrm>
            <a:off x="1051560" y="2834640"/>
            <a:ext cx="342900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Five key questions driving this analysis</a:t>
            </a:r>
            <a:endParaRPr lang="en-US" sz="1050" dirty="0"/>
          </a:p>
        </p:txBody>
      </p:sp>
      <p:sp>
        <p:nvSpPr>
          <p:cNvPr id="14" name="Shape 12"/>
          <p:cNvSpPr/>
          <p:nvPr/>
        </p:nvSpPr>
        <p:spPr>
          <a:xfrm>
            <a:off x="457200" y="3611880"/>
            <a:ext cx="411480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15" name="Shape 13"/>
          <p:cNvSpPr/>
          <p:nvPr/>
        </p:nvSpPr>
        <p:spPr>
          <a:xfrm>
            <a:off x="457200" y="3611880"/>
            <a:ext cx="502920" cy="1051560"/>
          </a:xfrm>
          <a:prstGeom prst="rect">
            <a:avLst/>
          </a:prstGeom>
          <a:solidFill>
            <a:srgbClr val="1C4B82"/>
          </a:solidFill>
          <a:ln/>
        </p:spPr>
        <p:txBody>
          <a:bodyPr/>
          <a:lstStyle/>
          <a:p>
            <a:endParaRPr lang="en-GB"/>
          </a:p>
        </p:txBody>
      </p:sp>
      <p:sp>
        <p:nvSpPr>
          <p:cNvPr id="16" name="Text 14"/>
          <p:cNvSpPr/>
          <p:nvPr/>
        </p:nvSpPr>
        <p:spPr>
          <a:xfrm>
            <a:off x="457200" y="3611880"/>
            <a:ext cx="50292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7" name="Text 15"/>
          <p:cNvSpPr/>
          <p:nvPr/>
        </p:nvSpPr>
        <p:spPr>
          <a:xfrm>
            <a:off x="1051560" y="3703320"/>
            <a:ext cx="34290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Data &amp; Methodology</a:t>
            </a:r>
            <a:endParaRPr lang="en-US" sz="1300" dirty="0"/>
          </a:p>
        </p:txBody>
      </p:sp>
      <p:sp>
        <p:nvSpPr>
          <p:cNvPr id="18" name="Text 16"/>
          <p:cNvSpPr/>
          <p:nvPr/>
        </p:nvSpPr>
        <p:spPr>
          <a:xfrm>
            <a:off x="1051560" y="4069080"/>
            <a:ext cx="342900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Dataset overview, logistic regression approach, and model fit</a:t>
            </a:r>
            <a:endParaRPr lang="en-US" sz="1050" dirty="0"/>
          </a:p>
        </p:txBody>
      </p:sp>
      <p:sp>
        <p:nvSpPr>
          <p:cNvPr id="19" name="Shape 17"/>
          <p:cNvSpPr/>
          <p:nvPr/>
        </p:nvSpPr>
        <p:spPr>
          <a:xfrm>
            <a:off x="5029200" y="1143000"/>
            <a:ext cx="411480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dirty="0"/>
          </a:p>
        </p:txBody>
      </p:sp>
      <p:sp>
        <p:nvSpPr>
          <p:cNvPr id="20" name="Shape 18"/>
          <p:cNvSpPr/>
          <p:nvPr/>
        </p:nvSpPr>
        <p:spPr>
          <a:xfrm>
            <a:off x="5029200" y="1143000"/>
            <a:ext cx="502920" cy="1051560"/>
          </a:xfrm>
          <a:prstGeom prst="rect">
            <a:avLst/>
          </a:prstGeom>
          <a:solidFill>
            <a:srgbClr val="1C4B82"/>
          </a:solidFill>
          <a:ln/>
        </p:spPr>
        <p:txBody>
          <a:bodyPr/>
          <a:lstStyle/>
          <a:p>
            <a:endParaRPr lang="en-GB"/>
          </a:p>
        </p:txBody>
      </p:sp>
      <p:sp>
        <p:nvSpPr>
          <p:cNvPr id="21" name="Text 19"/>
          <p:cNvSpPr/>
          <p:nvPr/>
        </p:nvSpPr>
        <p:spPr>
          <a:xfrm>
            <a:off x="5029200" y="1143000"/>
            <a:ext cx="50292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2" name="Text 20"/>
          <p:cNvSpPr/>
          <p:nvPr/>
        </p:nvSpPr>
        <p:spPr>
          <a:xfrm>
            <a:off x="5623560" y="1234440"/>
            <a:ext cx="34290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Key Findings </a:t>
            </a:r>
            <a:r>
              <a:rPr lang="en-US" altLang="zh-CN" sz="1300" b="1" dirty="0">
                <a:solidFill>
                  <a:srgbClr val="1C4B82"/>
                </a:solidFill>
                <a:latin typeface="Calibri" pitchFamily="34" charset="0"/>
                <a:ea typeface="Calibri" pitchFamily="34" charset="-122"/>
                <a:cs typeface="Calibri" pitchFamily="34" charset="-120"/>
              </a:rPr>
              <a:t>and Insights</a:t>
            </a:r>
            <a:endParaRPr lang="en-US" sz="1300" dirty="0"/>
          </a:p>
        </p:txBody>
      </p:sp>
      <p:sp>
        <p:nvSpPr>
          <p:cNvPr id="23" name="Text 21"/>
          <p:cNvSpPr/>
          <p:nvPr/>
        </p:nvSpPr>
        <p:spPr>
          <a:xfrm>
            <a:off x="5623560" y="1600200"/>
            <a:ext cx="342900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Five statistically significant drivers of customer churn</a:t>
            </a:r>
            <a:endParaRPr lang="en-US" sz="1050" dirty="0"/>
          </a:p>
        </p:txBody>
      </p:sp>
      <p:sp>
        <p:nvSpPr>
          <p:cNvPr id="24" name="Shape 22"/>
          <p:cNvSpPr/>
          <p:nvPr/>
        </p:nvSpPr>
        <p:spPr>
          <a:xfrm>
            <a:off x="5029200" y="2377440"/>
            <a:ext cx="4114800" cy="1051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25" name="Shape 23"/>
          <p:cNvSpPr/>
          <p:nvPr/>
        </p:nvSpPr>
        <p:spPr>
          <a:xfrm>
            <a:off x="5029200" y="2377440"/>
            <a:ext cx="502920" cy="1051560"/>
          </a:xfrm>
          <a:prstGeom prst="rect">
            <a:avLst/>
          </a:prstGeom>
          <a:solidFill>
            <a:srgbClr val="1C4B82"/>
          </a:solidFill>
          <a:ln/>
        </p:spPr>
        <p:txBody>
          <a:bodyPr/>
          <a:lstStyle/>
          <a:p>
            <a:endParaRPr lang="en-GB"/>
          </a:p>
        </p:txBody>
      </p:sp>
      <p:sp>
        <p:nvSpPr>
          <p:cNvPr id="26" name="Text 24"/>
          <p:cNvSpPr/>
          <p:nvPr/>
        </p:nvSpPr>
        <p:spPr>
          <a:xfrm>
            <a:off x="5029200" y="2377440"/>
            <a:ext cx="502920" cy="10515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7" name="Text 25"/>
          <p:cNvSpPr/>
          <p:nvPr/>
        </p:nvSpPr>
        <p:spPr>
          <a:xfrm>
            <a:off x="5623560" y="2468880"/>
            <a:ext cx="34290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Recommendations</a:t>
            </a:r>
            <a:endParaRPr lang="en-US" sz="1300" dirty="0"/>
          </a:p>
        </p:txBody>
      </p:sp>
      <p:sp>
        <p:nvSpPr>
          <p:cNvPr id="28" name="Text 26"/>
          <p:cNvSpPr/>
          <p:nvPr/>
        </p:nvSpPr>
        <p:spPr>
          <a:xfrm>
            <a:off x="5623560" y="2834640"/>
            <a:ext cx="3429000" cy="502920"/>
          </a:xfrm>
          <a:prstGeom prst="rect">
            <a:avLst/>
          </a:prstGeom>
          <a:noFill/>
          <a:ln/>
        </p:spPr>
        <p:txBody>
          <a:bodyPr wrap="square" lIns="0" tIns="0" rIns="0" bIns="0" rtlCol="0" anchor="ctr"/>
          <a:lstStyle/>
          <a:p>
            <a:r>
              <a:rPr lang="en-US" sz="1050" dirty="0">
                <a:solidFill>
                  <a:srgbClr val="64748B"/>
                </a:solidFill>
                <a:latin typeface="Calibri" pitchFamily="34" charset="0"/>
                <a:ea typeface="Calibri" pitchFamily="34" charset="-122"/>
                <a:cs typeface="Calibri" pitchFamily="34" charset="-120"/>
              </a:rPr>
              <a:t>Five actionable strategies with expected business impact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228600" y="137160"/>
            <a:ext cx="640080" cy="777240"/>
          </a:xfrm>
          <a:prstGeom prst="rect">
            <a:avLst/>
          </a:prstGeom>
          <a:noFill/>
          <a:ln/>
        </p:spPr>
        <p:txBody>
          <a:bodyPr wrap="square" lIns="0" tIns="0" rIns="0" bIns="0" rtlCol="0" anchor="ctr"/>
          <a:lstStyle/>
          <a:p>
            <a:pPr marL="0" indent="0">
              <a:buNone/>
            </a:pPr>
            <a:r>
              <a:rPr lang="en-US" sz="1800" b="1" dirty="0">
                <a:solidFill>
                  <a:srgbClr val="E84A5F"/>
                </a:solidFill>
                <a:latin typeface="Calibri" pitchFamily="34" charset="0"/>
                <a:ea typeface="Calibri" pitchFamily="34" charset="-122"/>
                <a:cs typeface="Calibri" pitchFamily="34" charset="-120"/>
              </a:rPr>
              <a:t>01</a:t>
            </a:r>
            <a:endParaRPr lang="en-US" sz="1800" dirty="0"/>
          </a:p>
        </p:txBody>
      </p:sp>
      <p:sp>
        <p:nvSpPr>
          <p:cNvPr id="4" name="Text 2"/>
          <p:cNvSpPr/>
          <p:nvPr/>
        </p:nvSpPr>
        <p:spPr>
          <a:xfrm>
            <a:off x="822960" y="137160"/>
            <a:ext cx="7772400" cy="7772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Business Context</a:t>
            </a:r>
            <a:endParaRPr lang="en-US" sz="3000" dirty="0"/>
          </a:p>
        </p:txBody>
      </p:sp>
      <p:sp>
        <p:nvSpPr>
          <p:cNvPr id="5" name="Text 3"/>
          <p:cNvSpPr/>
          <p:nvPr/>
        </p:nvSpPr>
        <p:spPr>
          <a:xfrm>
            <a:off x="457200" y="1143000"/>
            <a:ext cx="50292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The Industry Challenge</a:t>
            </a:r>
            <a:endParaRPr lang="en-US" sz="1300" dirty="0"/>
          </a:p>
        </p:txBody>
      </p:sp>
      <p:sp>
        <p:nvSpPr>
          <p:cNvPr id="6" name="Text 4"/>
          <p:cNvSpPr/>
          <p:nvPr/>
        </p:nvSpPr>
        <p:spPr>
          <a:xfrm>
            <a:off x="543261" y="1403604"/>
            <a:ext cx="4846320" cy="347472"/>
          </a:xfrm>
          <a:prstGeom prst="rect">
            <a:avLst/>
          </a:prstGeom>
          <a:noFill/>
          <a:ln/>
        </p:spPr>
        <p:txBody>
          <a:bodyPr wrap="square" lIns="0" tIns="0" rIns="0" bIns="0" rtlCol="0" anchor="t"/>
          <a:lstStyle/>
          <a:p>
            <a:pPr marL="0" indent="0">
              <a:buNone/>
            </a:pPr>
            <a:r>
              <a:rPr lang="en-US" sz="1150" b="1"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Subscription-based services(Netflix, Spotify, ChatGPT etc.) face intense competition and low switching costs</a:t>
            </a:r>
            <a:endParaRPr lang="en-US" sz="1150" dirty="0"/>
          </a:p>
        </p:txBody>
      </p:sp>
      <p:sp>
        <p:nvSpPr>
          <p:cNvPr id="7" name="Text 5"/>
          <p:cNvSpPr/>
          <p:nvPr/>
        </p:nvSpPr>
        <p:spPr>
          <a:xfrm>
            <a:off x="543261" y="1751076"/>
            <a:ext cx="4846320" cy="237744"/>
          </a:xfrm>
          <a:prstGeom prst="rect">
            <a:avLst/>
          </a:prstGeom>
          <a:noFill/>
          <a:ln/>
        </p:spPr>
        <p:txBody>
          <a:bodyPr wrap="square" lIns="0" tIns="0" rIns="0" bIns="0" rtlCol="0" anchor="t"/>
          <a:lstStyle/>
          <a:p>
            <a:pPr marL="0" indent="0">
              <a:buNone/>
            </a:pPr>
            <a:r>
              <a:rPr lang="en-US" sz="1150" b="1"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Customer retention is the primary </a:t>
            </a:r>
            <a:r>
              <a:rPr lang="en-US" altLang="zh-CN" sz="1150" dirty="0">
                <a:solidFill>
                  <a:srgbClr val="1A1A2E"/>
                </a:solidFill>
                <a:latin typeface="Calibri" pitchFamily="34" charset="0"/>
                <a:ea typeface="Calibri" pitchFamily="34" charset="-122"/>
                <a:cs typeface="Calibri" pitchFamily="34" charset="-120"/>
              </a:rPr>
              <a:t>means</a:t>
            </a:r>
            <a:r>
              <a:rPr lang="en-US" sz="1150" dirty="0">
                <a:solidFill>
                  <a:srgbClr val="1A1A2E"/>
                </a:solidFill>
                <a:latin typeface="Calibri" pitchFamily="34" charset="0"/>
                <a:ea typeface="Calibri" pitchFamily="34" charset="-122"/>
                <a:cs typeface="Calibri" pitchFamily="34" charset="-120"/>
              </a:rPr>
              <a:t> for sustainable revenue growth</a:t>
            </a:r>
            <a:endParaRPr lang="en-US" sz="1150" dirty="0"/>
          </a:p>
        </p:txBody>
      </p:sp>
      <p:sp>
        <p:nvSpPr>
          <p:cNvPr id="8" name="Text 6"/>
          <p:cNvSpPr/>
          <p:nvPr/>
        </p:nvSpPr>
        <p:spPr>
          <a:xfrm>
            <a:off x="537882" y="1970532"/>
            <a:ext cx="4846320" cy="347472"/>
          </a:xfrm>
          <a:prstGeom prst="rect">
            <a:avLst/>
          </a:prstGeom>
          <a:noFill/>
          <a:ln/>
        </p:spPr>
        <p:txBody>
          <a:bodyPr wrap="square" lIns="0" tIns="0" rIns="0" bIns="0" rtlCol="0" anchor="t"/>
          <a:lstStyle/>
          <a:p>
            <a:r>
              <a:rPr lang="en-US" sz="1150" b="1"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Acquiring a new customer costs 5–25× more than retaining an existing one </a:t>
            </a:r>
            <a:r>
              <a:rPr lang="en-GB" sz="1200" dirty="0"/>
              <a:t>(Gallo, 2014)</a:t>
            </a:r>
            <a:endParaRPr lang="en-US" sz="1150" dirty="0"/>
          </a:p>
        </p:txBody>
      </p:sp>
      <p:sp>
        <p:nvSpPr>
          <p:cNvPr id="9" name="Text 7"/>
          <p:cNvSpPr/>
          <p:nvPr/>
        </p:nvSpPr>
        <p:spPr>
          <a:xfrm>
            <a:off x="454511" y="2802636"/>
            <a:ext cx="50292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The Business Problem</a:t>
            </a:r>
            <a:endParaRPr lang="en-US" sz="1300" dirty="0"/>
          </a:p>
        </p:txBody>
      </p:sp>
      <p:sp>
        <p:nvSpPr>
          <p:cNvPr id="10" name="Text 8"/>
          <p:cNvSpPr/>
          <p:nvPr/>
        </p:nvSpPr>
        <p:spPr>
          <a:xfrm>
            <a:off x="537882" y="3122676"/>
            <a:ext cx="4846320" cy="347472"/>
          </a:xfrm>
          <a:prstGeom prst="rect">
            <a:avLst/>
          </a:prstGeom>
          <a:noFill/>
          <a:ln/>
        </p:spPr>
        <p:txBody>
          <a:bodyPr wrap="square" lIns="0" tIns="0" rIns="0" bIns="0" rtlCol="0" anchor="t"/>
          <a:lstStyle/>
          <a:p>
            <a:pPr marL="0" indent="0">
              <a:buNone/>
            </a:pPr>
            <a:r>
              <a:rPr lang="en-US" sz="1150" b="1"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31.9% of customers  churned during the observation period (4,783 of 15,000)</a:t>
            </a:r>
            <a:endParaRPr lang="en-US" sz="1150" dirty="0"/>
          </a:p>
        </p:txBody>
      </p:sp>
      <p:sp>
        <p:nvSpPr>
          <p:cNvPr id="11" name="Text 9"/>
          <p:cNvSpPr/>
          <p:nvPr/>
        </p:nvSpPr>
        <p:spPr>
          <a:xfrm>
            <a:off x="548640" y="3364992"/>
            <a:ext cx="4846320" cy="347472"/>
          </a:xfrm>
          <a:prstGeom prst="rect">
            <a:avLst/>
          </a:prstGeom>
          <a:noFill/>
          <a:ln/>
        </p:spPr>
        <p:txBody>
          <a:bodyPr wrap="square" lIns="0" tIns="0" rIns="0" bIns="0" rtlCol="0" anchor="t"/>
          <a:lstStyle/>
          <a:p>
            <a:pPr marL="0" indent="0">
              <a:buNone/>
            </a:pPr>
            <a:r>
              <a:rPr lang="en-US" sz="1150" b="1"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At ~$59/month average revenue per user, this represents ~$1.7M in annual recurring revenue at risk</a:t>
            </a:r>
            <a:endParaRPr lang="en-US" sz="1150" dirty="0"/>
          </a:p>
        </p:txBody>
      </p:sp>
      <p:sp>
        <p:nvSpPr>
          <p:cNvPr id="12" name="Text 10"/>
          <p:cNvSpPr/>
          <p:nvPr/>
        </p:nvSpPr>
        <p:spPr>
          <a:xfrm>
            <a:off x="548640" y="3712464"/>
            <a:ext cx="4846320" cy="347472"/>
          </a:xfrm>
          <a:prstGeom prst="rect">
            <a:avLst/>
          </a:prstGeom>
          <a:noFill/>
          <a:ln/>
        </p:spPr>
        <p:txBody>
          <a:bodyPr wrap="square" lIns="0" tIns="0" rIns="0" bIns="0" rtlCol="0" anchor="t"/>
          <a:lstStyle/>
          <a:p>
            <a:pPr marL="0" indent="0">
              <a:buNone/>
            </a:pPr>
            <a:endParaRPr lang="en-US" sz="1150" dirty="0"/>
          </a:p>
        </p:txBody>
      </p:sp>
      <p:sp>
        <p:nvSpPr>
          <p:cNvPr id="13" name="Text 11"/>
          <p:cNvSpPr/>
          <p:nvPr/>
        </p:nvSpPr>
        <p:spPr>
          <a:xfrm>
            <a:off x="446442" y="3693034"/>
            <a:ext cx="50292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Why This Matters to Management</a:t>
            </a:r>
            <a:endParaRPr lang="en-US" sz="1300" dirty="0"/>
          </a:p>
        </p:txBody>
      </p:sp>
      <p:sp>
        <p:nvSpPr>
          <p:cNvPr id="14" name="Text 12"/>
          <p:cNvSpPr/>
          <p:nvPr/>
        </p:nvSpPr>
        <p:spPr>
          <a:xfrm>
            <a:off x="537882" y="4040506"/>
            <a:ext cx="4846320" cy="347472"/>
          </a:xfrm>
          <a:prstGeom prst="rect">
            <a:avLst/>
          </a:prstGeom>
          <a:noFill/>
          <a:ln/>
        </p:spPr>
        <p:txBody>
          <a:bodyPr wrap="square" lIns="0" tIns="0" rIns="0" bIns="0" rtlCol="0" anchor="t"/>
          <a:lstStyle/>
          <a:p>
            <a:r>
              <a:rPr lang="en-US" sz="1150" b="1"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A 5% reduction in churn rate can increase profits by 25–95% (</a:t>
            </a:r>
            <a:r>
              <a:rPr lang="en-GB" sz="1100" dirty="0"/>
              <a:t>Gallo, 2014</a:t>
            </a:r>
            <a:r>
              <a:rPr lang="en-US" sz="1150" dirty="0">
                <a:solidFill>
                  <a:srgbClr val="1A1A2E"/>
                </a:solidFill>
                <a:latin typeface="Calibri" pitchFamily="34" charset="0"/>
                <a:ea typeface="Calibri" pitchFamily="34" charset="-122"/>
                <a:cs typeface="Calibri" pitchFamily="34" charset="-120"/>
              </a:rPr>
              <a:t>)</a:t>
            </a:r>
            <a:endParaRPr lang="en-US" sz="1150" dirty="0"/>
          </a:p>
        </p:txBody>
      </p:sp>
      <p:sp>
        <p:nvSpPr>
          <p:cNvPr id="15" name="Text 13"/>
          <p:cNvSpPr/>
          <p:nvPr/>
        </p:nvSpPr>
        <p:spPr>
          <a:xfrm>
            <a:off x="532503" y="4214242"/>
            <a:ext cx="4846320" cy="347472"/>
          </a:xfrm>
          <a:prstGeom prst="rect">
            <a:avLst/>
          </a:prstGeom>
          <a:noFill/>
          <a:ln/>
        </p:spPr>
        <p:txBody>
          <a:bodyPr wrap="square" lIns="0" tIns="0" rIns="0" bIns="0" rtlCol="0" anchor="t"/>
          <a:lstStyle/>
          <a:p>
            <a:pPr marL="0" indent="0">
              <a:buNone/>
            </a:pPr>
            <a:r>
              <a:rPr lang="en-US" sz="1150" b="1"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The regression model identifies specific, actionable levers — not just symptoms</a:t>
            </a:r>
            <a:endParaRPr lang="en-US" sz="1150" dirty="0"/>
          </a:p>
        </p:txBody>
      </p:sp>
      <p:sp>
        <p:nvSpPr>
          <p:cNvPr id="16" name="Text 14"/>
          <p:cNvSpPr/>
          <p:nvPr/>
        </p:nvSpPr>
        <p:spPr>
          <a:xfrm>
            <a:off x="527124" y="4396853"/>
            <a:ext cx="4846320" cy="347472"/>
          </a:xfrm>
          <a:prstGeom prst="rect">
            <a:avLst/>
          </a:prstGeom>
          <a:noFill/>
          <a:ln/>
        </p:spPr>
        <p:txBody>
          <a:bodyPr wrap="square" lIns="0" tIns="0" rIns="0" bIns="0" rtlCol="0" anchor="t"/>
          <a:lstStyle/>
          <a:p>
            <a:pPr marL="0" indent="0">
              <a:buNone/>
            </a:pPr>
            <a:r>
              <a:rPr lang="en-US" sz="1150" b="1"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Early warning signals in the data enable targeted intervention before customers leave</a:t>
            </a:r>
            <a:endParaRPr lang="en-US" sz="1150" dirty="0"/>
          </a:p>
        </p:txBody>
      </p:sp>
      <p:sp>
        <p:nvSpPr>
          <p:cNvPr id="17" name="Text 15"/>
          <p:cNvSpPr/>
          <p:nvPr/>
        </p:nvSpPr>
        <p:spPr>
          <a:xfrm>
            <a:off x="5577840" y="1143000"/>
            <a:ext cx="3291840" cy="320040"/>
          </a:xfrm>
          <a:prstGeom prst="rect">
            <a:avLst/>
          </a:prstGeom>
          <a:noFill/>
          <a:ln/>
        </p:spPr>
        <p:txBody>
          <a:bodyPr wrap="square" lIns="0" tIns="0" rIns="0" bIns="0" rtlCol="0" anchor="ctr"/>
          <a:lstStyle/>
          <a:p>
            <a:pPr marL="0" indent="0" algn="ctr">
              <a:buNone/>
            </a:pPr>
            <a:r>
              <a:rPr lang="en-US" sz="1300" b="1" dirty="0">
                <a:solidFill>
                  <a:srgbClr val="1C4B82"/>
                </a:solidFill>
                <a:latin typeface="Calibri" pitchFamily="34" charset="0"/>
                <a:ea typeface="Calibri" pitchFamily="34" charset="-122"/>
                <a:cs typeface="Calibri" pitchFamily="34" charset="-120"/>
              </a:rPr>
              <a:t>Churn Distribution</a:t>
            </a:r>
            <a:endParaRPr lang="en-US" sz="1300" dirty="0"/>
          </a:p>
        </p:txBody>
      </p:sp>
      <p:pic>
        <p:nvPicPr>
          <p:cNvPr id="18" name="Image 0" descr="preencoded.png"/>
          <p:cNvPicPr>
            <a:picLocks noChangeAspect="1"/>
          </p:cNvPicPr>
          <p:nvPr/>
        </p:nvPicPr>
        <p:blipFill>
          <a:blip r:embed="rId3"/>
          <a:stretch>
            <a:fillRect/>
          </a:stretch>
        </p:blipFill>
        <p:spPr>
          <a:xfrm>
            <a:off x="5577840" y="1463040"/>
            <a:ext cx="3291840" cy="3006762"/>
          </a:xfrm>
          <a:prstGeom prst="rect">
            <a:avLst/>
          </a:prstGeom>
        </p:spPr>
      </p:pic>
      <p:sp>
        <p:nvSpPr>
          <p:cNvPr id="20" name="Text 17"/>
          <p:cNvSpPr/>
          <p:nvPr/>
        </p:nvSpPr>
        <p:spPr>
          <a:xfrm>
            <a:off x="5577840" y="4206240"/>
            <a:ext cx="1572768"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10,216</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Retained (68.1%)</a:t>
            </a:r>
            <a:endParaRPr lang="en-US" sz="1050" dirty="0"/>
          </a:p>
        </p:txBody>
      </p:sp>
      <p:sp>
        <p:nvSpPr>
          <p:cNvPr id="22" name="Text 19"/>
          <p:cNvSpPr/>
          <p:nvPr/>
        </p:nvSpPr>
        <p:spPr>
          <a:xfrm>
            <a:off x="7260336" y="4206240"/>
            <a:ext cx="160020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4,74</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Churned (31.9%)</a:t>
            </a:r>
            <a:endParaRPr lang="en-US" sz="1050" dirty="0"/>
          </a:p>
        </p:txBody>
      </p:sp>
      <p:sp>
        <p:nvSpPr>
          <p:cNvPr id="24" name="TextBox 23">
            <a:extLst>
              <a:ext uri="{FF2B5EF4-FFF2-40B4-BE49-F238E27FC236}">
                <a16:creationId xmlns:a16="http://schemas.microsoft.com/office/drawing/2014/main" id="{2A4301E6-71A8-CA04-8D8D-CE620D1C9508}"/>
              </a:ext>
            </a:extLst>
          </p:cNvPr>
          <p:cNvSpPr txBox="1"/>
          <p:nvPr/>
        </p:nvSpPr>
        <p:spPr>
          <a:xfrm>
            <a:off x="344244" y="2349086"/>
            <a:ext cx="4572000" cy="292388"/>
          </a:xfrm>
          <a:prstGeom prst="rect">
            <a:avLst/>
          </a:prstGeom>
          <a:noFill/>
        </p:spPr>
        <p:txBody>
          <a:bodyPr wrap="square">
            <a:spAutoFit/>
          </a:bodyPr>
          <a:lstStyle/>
          <a:p>
            <a:r>
              <a:rPr lang="en-US" sz="1300" b="1" dirty="0">
                <a:solidFill>
                  <a:srgbClr val="1C4B82"/>
                </a:solidFill>
                <a:latin typeface="Calibri" pitchFamily="34" charset="0"/>
                <a:ea typeface="Calibri" pitchFamily="34" charset="-122"/>
                <a:cs typeface="Calibri" pitchFamily="34" charset="-120"/>
              </a:rPr>
              <a:t>The </a:t>
            </a:r>
            <a:r>
              <a:rPr lang="en-GB" sz="1300" b="1" dirty="0">
                <a:solidFill>
                  <a:srgbClr val="1C4B82"/>
                </a:solidFill>
                <a:latin typeface="Calibri" pitchFamily="34" charset="0"/>
                <a:ea typeface="Calibri" pitchFamily="34" charset="-122"/>
                <a:cs typeface="Calibri" pitchFamily="34" charset="-120"/>
              </a:rPr>
              <a:t>Customer Behaviour &amp; Churn Simulation </a:t>
            </a:r>
            <a:r>
              <a:rPr lang="en-US" sz="1300" b="1" dirty="0">
                <a:solidFill>
                  <a:srgbClr val="1C4B82"/>
                </a:solidFill>
                <a:latin typeface="Calibri" pitchFamily="34" charset="0"/>
                <a:ea typeface="Calibri" pitchFamily="34" charset="-122"/>
                <a:cs typeface="Calibri" pitchFamily="34" charset="-120"/>
              </a:rPr>
              <a:t>Dataset (Kaggle)</a:t>
            </a:r>
            <a:endParaRPr lang="en-US" sz="1300" dirty="0"/>
          </a:p>
        </p:txBody>
      </p:sp>
      <p:sp>
        <p:nvSpPr>
          <p:cNvPr id="26" name="TextBox 25">
            <a:extLst>
              <a:ext uri="{FF2B5EF4-FFF2-40B4-BE49-F238E27FC236}">
                <a16:creationId xmlns:a16="http://schemas.microsoft.com/office/drawing/2014/main" id="{98DF871E-FA20-38C1-3D1C-4A2F67ACF7DB}"/>
              </a:ext>
            </a:extLst>
          </p:cNvPr>
          <p:cNvSpPr txBox="1"/>
          <p:nvPr/>
        </p:nvSpPr>
        <p:spPr>
          <a:xfrm>
            <a:off x="435684" y="2575402"/>
            <a:ext cx="4572000" cy="269304"/>
          </a:xfrm>
          <a:prstGeom prst="rect">
            <a:avLst/>
          </a:prstGeom>
          <a:noFill/>
        </p:spPr>
        <p:txBody>
          <a:bodyPr wrap="square">
            <a:spAutoFit/>
          </a:bodyPr>
          <a:lstStyle/>
          <a:p>
            <a:r>
              <a:rPr lang="en-US" sz="1150" b="1" dirty="0">
                <a:solidFill>
                  <a:srgbClr val="E84A5F"/>
                </a:solidFill>
                <a:latin typeface="Calibri" pitchFamily="34" charset="0"/>
                <a:ea typeface="Calibri" pitchFamily="34" charset="-122"/>
                <a:cs typeface="Calibri" pitchFamily="34" charset="-120"/>
              </a:rPr>
              <a:t>•</a:t>
            </a:r>
            <a:r>
              <a:rPr lang="en-US" sz="1150" b="1" dirty="0">
                <a:solidFill>
                  <a:srgbClr val="954F72"/>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 </a:t>
            </a:r>
            <a:r>
              <a:rPr lang="en-GB" sz="1150" dirty="0">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https://shorturl.at/nuPUR</a:t>
            </a:r>
            <a:endParaRPr lang="en-GB" sz="1150" dirty="0">
              <a:latin typeface="Calibri" pitchFamily="34" charset="0"/>
              <a:ea typeface="Calibri" pitchFamily="34" charset="-122"/>
              <a:cs typeface="Calibri"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D"/>
        </a:solidFill>
        <a:effectLst/>
      </p:bgPr>
    </p:bg>
    <p:spTree>
      <p:nvGrpSpPr>
        <p:cNvPr id="1" name="">
          <a:extLst>
            <a:ext uri="{FF2B5EF4-FFF2-40B4-BE49-F238E27FC236}">
              <a16:creationId xmlns:a16="http://schemas.microsoft.com/office/drawing/2014/main" id="{D37ABD8D-FC61-19DF-DB9C-16B534665F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EE4617-50E8-A5FD-33FD-66CFC231D4E0}"/>
              </a:ext>
            </a:extLst>
          </p:cNvPr>
          <p:cNvSpPr/>
          <p:nvPr/>
        </p:nvSpPr>
        <p:spPr>
          <a:xfrm>
            <a:off x="0" y="0"/>
            <a:ext cx="9144000" cy="1005840"/>
          </a:xfrm>
          <a:prstGeom prst="rect">
            <a:avLst/>
          </a:prstGeom>
          <a:solidFill>
            <a:srgbClr val="1C4B82"/>
          </a:solidFill>
          <a:ln/>
        </p:spPr>
        <p:txBody>
          <a:bodyPr/>
          <a:lstStyle/>
          <a:p>
            <a:endParaRPr lang="en-GB"/>
          </a:p>
        </p:txBody>
      </p:sp>
      <p:sp>
        <p:nvSpPr>
          <p:cNvPr id="3" name="Text 1">
            <a:extLst>
              <a:ext uri="{FF2B5EF4-FFF2-40B4-BE49-F238E27FC236}">
                <a16:creationId xmlns:a16="http://schemas.microsoft.com/office/drawing/2014/main" id="{B082C21D-B8E1-818D-F34F-903F4660A3B0}"/>
              </a:ext>
            </a:extLst>
          </p:cNvPr>
          <p:cNvSpPr/>
          <p:nvPr/>
        </p:nvSpPr>
        <p:spPr>
          <a:xfrm>
            <a:off x="228600" y="137160"/>
            <a:ext cx="640080" cy="777240"/>
          </a:xfrm>
          <a:prstGeom prst="rect">
            <a:avLst/>
          </a:prstGeom>
          <a:noFill/>
          <a:ln/>
        </p:spPr>
        <p:txBody>
          <a:bodyPr wrap="square" lIns="0" tIns="0" rIns="0" bIns="0" rtlCol="0" anchor="ctr"/>
          <a:lstStyle/>
          <a:p>
            <a:pPr marL="0" indent="0">
              <a:buNone/>
            </a:pPr>
            <a:r>
              <a:rPr lang="en-US" sz="1800" b="1" dirty="0">
                <a:solidFill>
                  <a:srgbClr val="E84A5F"/>
                </a:solidFill>
                <a:latin typeface="Calibri" pitchFamily="34" charset="0"/>
                <a:ea typeface="Calibri" pitchFamily="34" charset="-122"/>
                <a:cs typeface="Calibri" pitchFamily="34" charset="-120"/>
              </a:rPr>
              <a:t>0</a:t>
            </a:r>
            <a:r>
              <a:rPr lang="en-US" b="1" dirty="0">
                <a:solidFill>
                  <a:srgbClr val="E84A5F"/>
                </a:solidFill>
                <a:latin typeface="Calibri" pitchFamily="34" charset="0"/>
                <a:ea typeface="Calibri" pitchFamily="34" charset="-122"/>
                <a:cs typeface="Calibri" pitchFamily="34" charset="-120"/>
              </a:rPr>
              <a:t>2</a:t>
            </a:r>
            <a:endParaRPr lang="en-US" sz="1800" dirty="0"/>
          </a:p>
        </p:txBody>
      </p:sp>
      <p:sp>
        <p:nvSpPr>
          <p:cNvPr id="4" name="Text 2">
            <a:extLst>
              <a:ext uri="{FF2B5EF4-FFF2-40B4-BE49-F238E27FC236}">
                <a16:creationId xmlns:a16="http://schemas.microsoft.com/office/drawing/2014/main" id="{B6185152-3346-C59A-5266-D2C96DF4D535}"/>
              </a:ext>
            </a:extLst>
          </p:cNvPr>
          <p:cNvSpPr/>
          <p:nvPr/>
        </p:nvSpPr>
        <p:spPr>
          <a:xfrm>
            <a:off x="822960" y="137160"/>
            <a:ext cx="7772400" cy="7772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Research </a:t>
            </a:r>
            <a:r>
              <a:rPr lang="en-US" altLang="zh-CN" sz="3000" b="1" dirty="0">
                <a:solidFill>
                  <a:srgbClr val="FFFFFF"/>
                </a:solidFill>
                <a:latin typeface="Calibri" pitchFamily="34" charset="0"/>
                <a:ea typeface="Calibri" pitchFamily="34" charset="-122"/>
                <a:cs typeface="Calibri" pitchFamily="34" charset="-120"/>
              </a:rPr>
              <a:t>Questions</a:t>
            </a:r>
          </a:p>
        </p:txBody>
      </p:sp>
      <p:sp>
        <p:nvSpPr>
          <p:cNvPr id="5" name="Text 3">
            <a:extLst>
              <a:ext uri="{FF2B5EF4-FFF2-40B4-BE49-F238E27FC236}">
                <a16:creationId xmlns:a16="http://schemas.microsoft.com/office/drawing/2014/main" id="{3FDC1D9A-56AF-2986-F9CA-8FE86053D998}"/>
              </a:ext>
            </a:extLst>
          </p:cNvPr>
          <p:cNvSpPr/>
          <p:nvPr/>
        </p:nvSpPr>
        <p:spPr>
          <a:xfrm>
            <a:off x="457200" y="1143000"/>
            <a:ext cx="50292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Question</a:t>
            </a:r>
            <a:r>
              <a:rPr lang="en-US" altLang="zh-CN" sz="1300" b="1" dirty="0">
                <a:solidFill>
                  <a:srgbClr val="1C4B82"/>
                </a:solidFill>
                <a:latin typeface="Calibri" pitchFamily="34" charset="0"/>
                <a:ea typeface="Calibri" pitchFamily="34" charset="-122"/>
                <a:cs typeface="Calibri" pitchFamily="34" charset="-120"/>
              </a:rPr>
              <a:t>s</a:t>
            </a:r>
            <a:endParaRPr lang="en-US" sz="1300" dirty="0"/>
          </a:p>
        </p:txBody>
      </p:sp>
      <p:sp>
        <p:nvSpPr>
          <p:cNvPr id="6" name="Text 4">
            <a:extLst>
              <a:ext uri="{FF2B5EF4-FFF2-40B4-BE49-F238E27FC236}">
                <a16:creationId xmlns:a16="http://schemas.microsoft.com/office/drawing/2014/main" id="{E896E321-8880-4D00-01D8-239F72A23F17}"/>
              </a:ext>
            </a:extLst>
          </p:cNvPr>
          <p:cNvSpPr/>
          <p:nvPr/>
        </p:nvSpPr>
        <p:spPr>
          <a:xfrm>
            <a:off x="543261" y="1403604"/>
            <a:ext cx="4846320" cy="347472"/>
          </a:xfrm>
          <a:prstGeom prst="rect">
            <a:avLst/>
          </a:prstGeom>
          <a:noFill/>
          <a:ln/>
        </p:spPr>
        <p:txBody>
          <a:bodyPr wrap="square" lIns="0" tIns="0" rIns="0" bIns="0" rtlCol="0" anchor="t"/>
          <a:lstStyle/>
          <a:p>
            <a:pPr marL="0" indent="0">
              <a:buNone/>
            </a:pPr>
            <a:endParaRPr lang="en-US" sz="1150" dirty="0"/>
          </a:p>
        </p:txBody>
      </p:sp>
      <p:sp>
        <p:nvSpPr>
          <p:cNvPr id="7" name="Text 5">
            <a:extLst>
              <a:ext uri="{FF2B5EF4-FFF2-40B4-BE49-F238E27FC236}">
                <a16:creationId xmlns:a16="http://schemas.microsoft.com/office/drawing/2014/main" id="{A7CD5DA9-96B1-5627-B68D-EBC00FC4046E}"/>
              </a:ext>
            </a:extLst>
          </p:cNvPr>
          <p:cNvSpPr/>
          <p:nvPr/>
        </p:nvSpPr>
        <p:spPr>
          <a:xfrm>
            <a:off x="524436" y="1551050"/>
            <a:ext cx="7832912" cy="237744"/>
          </a:xfrm>
          <a:prstGeom prst="rect">
            <a:avLst/>
          </a:prstGeom>
          <a:noFill/>
          <a:ln/>
        </p:spPr>
        <p:txBody>
          <a:bodyPr wrap="square" lIns="0" tIns="0" rIns="0" bIns="0" rtlCol="0" anchor="t"/>
          <a:lstStyle/>
          <a:p>
            <a:r>
              <a:rPr lang="en-US" sz="1200" b="1" dirty="0">
                <a:solidFill>
                  <a:srgbClr val="E84A5F"/>
                </a:solidFill>
                <a:latin typeface="Calibri" pitchFamily="34" charset="0"/>
                <a:ea typeface="Calibri" pitchFamily="34" charset="-122"/>
                <a:cs typeface="Calibri" pitchFamily="34" charset="-120"/>
              </a:rPr>
              <a:t>• </a:t>
            </a:r>
            <a:r>
              <a:rPr lang="en-US" sz="1200" dirty="0"/>
              <a:t>What are the primary statistically significant predictors of customer churn in a subscription-based digital services business, and what is the magnitude and direction of their effect on churn probability?</a:t>
            </a:r>
          </a:p>
          <a:p>
            <a:br>
              <a:rPr lang="en-US" sz="1200" dirty="0"/>
            </a:br>
            <a:endParaRPr lang="en-US" sz="1150" dirty="0"/>
          </a:p>
        </p:txBody>
      </p:sp>
      <p:sp>
        <p:nvSpPr>
          <p:cNvPr id="8" name="Text 6">
            <a:extLst>
              <a:ext uri="{FF2B5EF4-FFF2-40B4-BE49-F238E27FC236}">
                <a16:creationId xmlns:a16="http://schemas.microsoft.com/office/drawing/2014/main" id="{63D4B9A5-0452-45CD-B5C0-F8AADBE6CB1D}"/>
              </a:ext>
            </a:extLst>
          </p:cNvPr>
          <p:cNvSpPr/>
          <p:nvPr/>
        </p:nvSpPr>
        <p:spPr>
          <a:xfrm>
            <a:off x="537882" y="1970532"/>
            <a:ext cx="7671548" cy="347472"/>
          </a:xfrm>
          <a:prstGeom prst="rect">
            <a:avLst/>
          </a:prstGeom>
          <a:noFill/>
          <a:ln/>
        </p:spPr>
        <p:txBody>
          <a:bodyPr wrap="square" lIns="0" tIns="0" rIns="0" bIns="0" rtlCol="0" anchor="t"/>
          <a:lstStyle/>
          <a:p>
            <a:r>
              <a:rPr lang="en-US" sz="1200" b="1" dirty="0">
                <a:solidFill>
                  <a:srgbClr val="E84A5F"/>
                </a:solidFill>
                <a:latin typeface="Calibri" pitchFamily="34" charset="0"/>
                <a:ea typeface="Calibri" pitchFamily="34" charset="-122"/>
                <a:cs typeface="Calibri" pitchFamily="34" charset="-120"/>
              </a:rPr>
              <a:t>• </a:t>
            </a:r>
            <a:r>
              <a:rPr lang="en-US" sz="1200" dirty="0"/>
              <a:t>Does lower customer satisfaction score significantly increase the probability of churn, and if so, how much does each unit decrease in satisfaction affect churn odds</a:t>
            </a:r>
          </a:p>
        </p:txBody>
      </p:sp>
      <p:sp>
        <p:nvSpPr>
          <p:cNvPr id="10" name="Text 8">
            <a:extLst>
              <a:ext uri="{FF2B5EF4-FFF2-40B4-BE49-F238E27FC236}">
                <a16:creationId xmlns:a16="http://schemas.microsoft.com/office/drawing/2014/main" id="{C5DAAACB-C420-CE8A-9CBC-65478B0FB6AC}"/>
              </a:ext>
            </a:extLst>
          </p:cNvPr>
          <p:cNvSpPr/>
          <p:nvPr/>
        </p:nvSpPr>
        <p:spPr>
          <a:xfrm>
            <a:off x="524436" y="2938626"/>
            <a:ext cx="8322654" cy="347472"/>
          </a:xfrm>
          <a:prstGeom prst="rect">
            <a:avLst/>
          </a:prstGeom>
          <a:noFill/>
          <a:ln/>
        </p:spPr>
        <p:txBody>
          <a:bodyPr wrap="square" lIns="0" tIns="0" rIns="0" bIns="0" rtlCol="0" anchor="t"/>
          <a:lstStyle/>
          <a:p>
            <a:r>
              <a:rPr lang="en-US" sz="1200" b="1" dirty="0">
                <a:solidFill>
                  <a:srgbClr val="E84A5F"/>
                </a:solidFill>
                <a:latin typeface="Calibri" pitchFamily="34" charset="0"/>
                <a:ea typeface="Calibri" pitchFamily="34" charset="-122"/>
                <a:cs typeface="Calibri" pitchFamily="34" charset="-120"/>
              </a:rPr>
              <a:t>• </a:t>
            </a:r>
            <a:r>
              <a:rPr lang="en-US" sz="1200" dirty="0"/>
              <a:t>Is the number of support tickets submitted a significant predictor of churn, indicating unresolved customer friction or dissatisfaction with the product experience?</a:t>
            </a:r>
          </a:p>
        </p:txBody>
      </p:sp>
      <p:sp>
        <p:nvSpPr>
          <p:cNvPr id="11" name="Text 9">
            <a:extLst>
              <a:ext uri="{FF2B5EF4-FFF2-40B4-BE49-F238E27FC236}">
                <a16:creationId xmlns:a16="http://schemas.microsoft.com/office/drawing/2014/main" id="{B4C10D00-9567-2C2B-D6A2-1E3372D6074D}"/>
              </a:ext>
            </a:extLst>
          </p:cNvPr>
          <p:cNvSpPr/>
          <p:nvPr/>
        </p:nvSpPr>
        <p:spPr>
          <a:xfrm>
            <a:off x="515023" y="3364992"/>
            <a:ext cx="8427272" cy="347472"/>
          </a:xfrm>
          <a:prstGeom prst="rect">
            <a:avLst/>
          </a:prstGeom>
          <a:noFill/>
          <a:ln/>
        </p:spPr>
        <p:txBody>
          <a:bodyPr wrap="square" lIns="0" tIns="0" rIns="0" bIns="0" rtlCol="0" anchor="t"/>
          <a:lstStyle/>
          <a:p>
            <a:r>
              <a:rPr lang="en-US" sz="1200" b="1" dirty="0">
                <a:solidFill>
                  <a:srgbClr val="E84A5F"/>
                </a:solidFill>
                <a:latin typeface="Calibri" pitchFamily="34" charset="0"/>
                <a:ea typeface="Calibri" pitchFamily="34" charset="-122"/>
                <a:cs typeface="Calibri" pitchFamily="34" charset="-120"/>
              </a:rPr>
              <a:t>• </a:t>
            </a:r>
            <a:r>
              <a:rPr lang="en-US" sz="1200" dirty="0"/>
              <a:t>Does increased recency of disengagement — measured by days elapsed since last login — significantly predict churn, functioning as an early warning signal for customer at-risk status?</a:t>
            </a:r>
          </a:p>
          <a:p>
            <a:br>
              <a:rPr lang="en-US" sz="1200" dirty="0"/>
            </a:br>
            <a:endParaRPr lang="en-US" sz="1150" dirty="0"/>
          </a:p>
        </p:txBody>
      </p:sp>
      <p:sp>
        <p:nvSpPr>
          <p:cNvPr id="12" name="Text 10">
            <a:extLst>
              <a:ext uri="{FF2B5EF4-FFF2-40B4-BE49-F238E27FC236}">
                <a16:creationId xmlns:a16="http://schemas.microsoft.com/office/drawing/2014/main" id="{B23B402E-DF91-01B9-C5CA-808B276D64BC}"/>
              </a:ext>
            </a:extLst>
          </p:cNvPr>
          <p:cNvSpPr/>
          <p:nvPr/>
        </p:nvSpPr>
        <p:spPr>
          <a:xfrm>
            <a:off x="548640" y="3712464"/>
            <a:ext cx="4846320" cy="347472"/>
          </a:xfrm>
          <a:prstGeom prst="rect">
            <a:avLst/>
          </a:prstGeom>
          <a:noFill/>
          <a:ln/>
        </p:spPr>
        <p:txBody>
          <a:bodyPr wrap="square" lIns="0" tIns="0" rIns="0" bIns="0" rtlCol="0" anchor="t"/>
          <a:lstStyle/>
          <a:p>
            <a:pPr marL="0" indent="0">
              <a:buNone/>
            </a:pPr>
            <a:endParaRPr lang="en-US" sz="1150" dirty="0"/>
          </a:p>
        </p:txBody>
      </p:sp>
      <p:sp>
        <p:nvSpPr>
          <p:cNvPr id="15" name="Text 13">
            <a:extLst>
              <a:ext uri="{FF2B5EF4-FFF2-40B4-BE49-F238E27FC236}">
                <a16:creationId xmlns:a16="http://schemas.microsoft.com/office/drawing/2014/main" id="{7530EB71-D526-CA5F-BA82-8F908E7ADCE3}"/>
              </a:ext>
            </a:extLst>
          </p:cNvPr>
          <p:cNvSpPr/>
          <p:nvPr/>
        </p:nvSpPr>
        <p:spPr>
          <a:xfrm>
            <a:off x="525779" y="3858768"/>
            <a:ext cx="8328033" cy="347472"/>
          </a:xfrm>
          <a:prstGeom prst="rect">
            <a:avLst/>
          </a:prstGeom>
          <a:noFill/>
          <a:ln/>
        </p:spPr>
        <p:txBody>
          <a:bodyPr wrap="square" lIns="0" tIns="0" rIns="0" bIns="0" rtlCol="0" anchor="t"/>
          <a:lstStyle/>
          <a:p>
            <a:r>
              <a:rPr lang="en-US" sz="1200" b="1" dirty="0">
                <a:solidFill>
                  <a:srgbClr val="E84A5F"/>
                </a:solidFill>
                <a:latin typeface="Calibri" pitchFamily="34" charset="0"/>
                <a:ea typeface="Calibri" pitchFamily="34" charset="-122"/>
                <a:cs typeface="Calibri" pitchFamily="34" charset="-120"/>
              </a:rPr>
              <a:t>•</a:t>
            </a:r>
            <a:r>
              <a:rPr lang="en-US" sz="1200" dirty="0"/>
              <a:t>Does customer tenure (months subscribed) reduce churn probability, and does this protective effect of loyalty persist after controlling for other factors?</a:t>
            </a:r>
          </a:p>
        </p:txBody>
      </p:sp>
      <p:sp>
        <p:nvSpPr>
          <p:cNvPr id="20" name="Text 17">
            <a:extLst>
              <a:ext uri="{FF2B5EF4-FFF2-40B4-BE49-F238E27FC236}">
                <a16:creationId xmlns:a16="http://schemas.microsoft.com/office/drawing/2014/main" id="{D80BB8DA-816E-E971-7E15-557D9A4C9CA7}"/>
              </a:ext>
            </a:extLst>
          </p:cNvPr>
          <p:cNvSpPr/>
          <p:nvPr/>
        </p:nvSpPr>
        <p:spPr>
          <a:xfrm>
            <a:off x="5577840" y="4206240"/>
            <a:ext cx="1572768"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10,216</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Retained (68.1%)</a:t>
            </a:r>
            <a:endParaRPr lang="en-US" sz="1050" dirty="0"/>
          </a:p>
        </p:txBody>
      </p:sp>
      <p:sp>
        <p:nvSpPr>
          <p:cNvPr id="22" name="Text 19">
            <a:extLst>
              <a:ext uri="{FF2B5EF4-FFF2-40B4-BE49-F238E27FC236}">
                <a16:creationId xmlns:a16="http://schemas.microsoft.com/office/drawing/2014/main" id="{C2D43245-546A-31C7-0316-D2C48663D54F}"/>
              </a:ext>
            </a:extLst>
          </p:cNvPr>
          <p:cNvSpPr/>
          <p:nvPr/>
        </p:nvSpPr>
        <p:spPr>
          <a:xfrm>
            <a:off x="7260336" y="4206240"/>
            <a:ext cx="1600200" cy="6858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4,74</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Churned (31.9%)</a:t>
            </a:r>
            <a:endParaRPr lang="en-US" sz="1050" dirty="0"/>
          </a:p>
        </p:txBody>
      </p:sp>
      <p:sp>
        <p:nvSpPr>
          <p:cNvPr id="26" name="TextBox 25">
            <a:extLst>
              <a:ext uri="{FF2B5EF4-FFF2-40B4-BE49-F238E27FC236}">
                <a16:creationId xmlns:a16="http://schemas.microsoft.com/office/drawing/2014/main" id="{1AD2D180-291D-90E3-9D44-90735C439DFA}"/>
              </a:ext>
            </a:extLst>
          </p:cNvPr>
          <p:cNvSpPr txBox="1"/>
          <p:nvPr/>
        </p:nvSpPr>
        <p:spPr>
          <a:xfrm>
            <a:off x="435684" y="2398067"/>
            <a:ext cx="8159676" cy="461665"/>
          </a:xfrm>
          <a:prstGeom prst="rect">
            <a:avLst/>
          </a:prstGeom>
          <a:noFill/>
        </p:spPr>
        <p:txBody>
          <a:bodyPr wrap="square">
            <a:spAutoFit/>
          </a:bodyPr>
          <a:lstStyle/>
          <a:p>
            <a:r>
              <a:rPr lang="en-US" sz="1200" b="1" dirty="0">
                <a:solidFill>
                  <a:srgbClr val="E84A5F"/>
                </a:solidFill>
                <a:latin typeface="Calibri" pitchFamily="34" charset="0"/>
                <a:ea typeface="Calibri" pitchFamily="34" charset="-122"/>
                <a:cs typeface="Calibri" pitchFamily="34" charset="-120"/>
              </a:rPr>
              <a:t>• </a:t>
            </a:r>
            <a:r>
              <a:rPr lang="en-US" sz="1200" dirty="0"/>
              <a:t>Do customers on longer-term (yearly) contracts exhibit significantly lower churn rates compared to those on monthly rolling contracts?</a:t>
            </a:r>
            <a:endParaRPr lang="en-GB" sz="1200" dirty="0">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352001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228600" y="137160"/>
            <a:ext cx="640080" cy="777240"/>
          </a:xfrm>
          <a:prstGeom prst="rect">
            <a:avLst/>
          </a:prstGeom>
          <a:noFill/>
          <a:ln/>
        </p:spPr>
        <p:txBody>
          <a:bodyPr wrap="square" lIns="0" tIns="0" rIns="0" bIns="0" rtlCol="0" anchor="ctr"/>
          <a:lstStyle/>
          <a:p>
            <a:pPr marL="0" indent="0">
              <a:buNone/>
            </a:pPr>
            <a:r>
              <a:rPr lang="en-US" sz="1800" b="1" dirty="0">
                <a:solidFill>
                  <a:srgbClr val="E84A5F"/>
                </a:solidFill>
                <a:latin typeface="Calibri" pitchFamily="34" charset="0"/>
                <a:ea typeface="Calibri" pitchFamily="34" charset="-122"/>
                <a:cs typeface="Calibri" pitchFamily="34" charset="-120"/>
              </a:rPr>
              <a:t>03</a:t>
            </a:r>
            <a:endParaRPr lang="en-US" sz="1800" dirty="0"/>
          </a:p>
        </p:txBody>
      </p:sp>
      <p:sp>
        <p:nvSpPr>
          <p:cNvPr id="4" name="Text 2"/>
          <p:cNvSpPr/>
          <p:nvPr/>
        </p:nvSpPr>
        <p:spPr>
          <a:xfrm>
            <a:off x="822960" y="137160"/>
            <a:ext cx="7772400" cy="7772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 &amp; Methodology</a:t>
            </a:r>
            <a:endParaRPr lang="en-US" sz="3000" dirty="0"/>
          </a:p>
        </p:txBody>
      </p:sp>
      <p:sp>
        <p:nvSpPr>
          <p:cNvPr id="5" name="Text 3"/>
          <p:cNvSpPr/>
          <p:nvPr/>
        </p:nvSpPr>
        <p:spPr>
          <a:xfrm>
            <a:off x="457200" y="1143000"/>
            <a:ext cx="5029200" cy="36576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Approach: Binary Logistic Regression</a:t>
            </a:r>
            <a:endParaRPr lang="en-US" sz="1300" dirty="0"/>
          </a:p>
        </p:txBody>
      </p:sp>
      <p:sp>
        <p:nvSpPr>
          <p:cNvPr id="6" name="Text 4"/>
          <p:cNvSpPr/>
          <p:nvPr/>
        </p:nvSpPr>
        <p:spPr>
          <a:xfrm>
            <a:off x="548640" y="1554480"/>
            <a:ext cx="4846320" cy="365760"/>
          </a:xfrm>
          <a:prstGeom prst="rect">
            <a:avLst/>
          </a:prstGeom>
          <a:noFill/>
          <a:ln/>
        </p:spPr>
        <p:txBody>
          <a:bodyPr wrap="square" lIns="0" tIns="0" rIns="0" bIns="0" rtlCol="0" anchor="t"/>
          <a:lstStyle/>
          <a:p>
            <a:pPr marL="0" indent="0">
              <a:buNone/>
            </a:pPr>
            <a:r>
              <a:rPr lang="en-US" sz="1150"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15,000 synthetic customer records, 21 features, no missing data</a:t>
            </a:r>
            <a:endParaRPr lang="en-US" sz="1150" dirty="0"/>
          </a:p>
        </p:txBody>
      </p:sp>
      <p:sp>
        <p:nvSpPr>
          <p:cNvPr id="7" name="Text 5"/>
          <p:cNvSpPr/>
          <p:nvPr/>
        </p:nvSpPr>
        <p:spPr>
          <a:xfrm>
            <a:off x="548640" y="1938528"/>
            <a:ext cx="4846320" cy="365760"/>
          </a:xfrm>
          <a:prstGeom prst="rect">
            <a:avLst/>
          </a:prstGeom>
          <a:noFill/>
          <a:ln/>
        </p:spPr>
        <p:txBody>
          <a:bodyPr wrap="square" lIns="0" tIns="0" rIns="0" bIns="0" rtlCol="0" anchor="t"/>
          <a:lstStyle/>
          <a:p>
            <a:pPr marL="0" indent="0">
              <a:buNone/>
            </a:pPr>
            <a:r>
              <a:rPr lang="en-US" sz="1150"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14 predictor variables including demographics, contract, behaviour, and support metrics</a:t>
            </a:r>
            <a:endParaRPr lang="en-US" sz="1150" dirty="0"/>
          </a:p>
        </p:txBody>
      </p:sp>
      <p:sp>
        <p:nvSpPr>
          <p:cNvPr id="8" name="Text 6"/>
          <p:cNvSpPr/>
          <p:nvPr/>
        </p:nvSpPr>
        <p:spPr>
          <a:xfrm>
            <a:off x="548640" y="2322576"/>
            <a:ext cx="4846320" cy="365760"/>
          </a:xfrm>
          <a:prstGeom prst="rect">
            <a:avLst/>
          </a:prstGeom>
          <a:noFill/>
          <a:ln/>
        </p:spPr>
        <p:txBody>
          <a:bodyPr wrap="square" lIns="0" tIns="0" rIns="0" bIns="0" rtlCol="0" anchor="t"/>
          <a:lstStyle/>
          <a:p>
            <a:pPr marL="0" indent="0">
              <a:buNone/>
            </a:pPr>
            <a:r>
              <a:rPr lang="en-US" sz="1150"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Target variable: churn (</a:t>
            </a:r>
            <a:r>
              <a:rPr lang="en-GB" sz="1150" dirty="0">
                <a:solidFill>
                  <a:srgbClr val="1A1A2E"/>
                </a:solidFill>
                <a:latin typeface="Calibri" pitchFamily="34" charset="0"/>
                <a:ea typeface="Calibri" pitchFamily="34" charset="-122"/>
                <a:cs typeface="Calibri" pitchFamily="34" charset="-120"/>
              </a:rPr>
              <a:t>binary</a:t>
            </a:r>
            <a:r>
              <a:rPr lang="zh-CN" altLang="en-US" sz="1150" dirty="0">
                <a:solidFill>
                  <a:srgbClr val="1A1A2E"/>
                </a:solidFill>
                <a:latin typeface="Calibri" pitchFamily="34" charset="0"/>
                <a:ea typeface="Calibri" pitchFamily="34" charset="-122"/>
                <a:cs typeface="Calibri" pitchFamily="34" charset="-120"/>
              </a:rPr>
              <a:t> </a:t>
            </a:r>
            <a:r>
              <a:rPr lang="en-GB" altLang="zh-CN" sz="1150" dirty="0">
                <a:solidFill>
                  <a:srgbClr val="1A1A2E"/>
                </a:solidFill>
                <a:latin typeface="Calibri" pitchFamily="34" charset="0"/>
                <a:ea typeface="Calibri" pitchFamily="34" charset="-122"/>
                <a:cs typeface="Calibri" pitchFamily="34" charset="-120"/>
              </a:rPr>
              <a:t>outcome,</a:t>
            </a:r>
            <a:r>
              <a:rPr lang="zh-CN" altLang="en-US" sz="1150" dirty="0">
                <a:solidFill>
                  <a:srgbClr val="1A1A2E"/>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0=Retained, 1=Churned)</a:t>
            </a:r>
            <a:endParaRPr lang="en-US" sz="1150" dirty="0"/>
          </a:p>
        </p:txBody>
      </p:sp>
      <p:sp>
        <p:nvSpPr>
          <p:cNvPr id="9" name="Text 7"/>
          <p:cNvSpPr/>
          <p:nvPr/>
        </p:nvSpPr>
        <p:spPr>
          <a:xfrm>
            <a:off x="548640" y="2706624"/>
            <a:ext cx="4846320" cy="365760"/>
          </a:xfrm>
          <a:prstGeom prst="rect">
            <a:avLst/>
          </a:prstGeom>
          <a:noFill/>
          <a:ln/>
        </p:spPr>
        <p:txBody>
          <a:bodyPr wrap="square" lIns="0" tIns="0" rIns="0" bIns="0" rtlCol="0" anchor="t"/>
          <a:lstStyle/>
          <a:p>
            <a:pPr marL="0" indent="0">
              <a:buNone/>
            </a:pPr>
            <a:r>
              <a:rPr lang="en-US" sz="1150"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Maximum Likelihood Estimation (MLE) via statsmodels Logit</a:t>
            </a:r>
            <a:endParaRPr lang="en-US" sz="1150" dirty="0"/>
          </a:p>
        </p:txBody>
      </p:sp>
      <p:sp>
        <p:nvSpPr>
          <p:cNvPr id="10" name="Text 8"/>
          <p:cNvSpPr/>
          <p:nvPr/>
        </p:nvSpPr>
        <p:spPr>
          <a:xfrm>
            <a:off x="548640" y="3090672"/>
            <a:ext cx="4846320" cy="365760"/>
          </a:xfrm>
          <a:prstGeom prst="rect">
            <a:avLst/>
          </a:prstGeom>
          <a:noFill/>
          <a:ln/>
        </p:spPr>
        <p:txBody>
          <a:bodyPr wrap="square" lIns="0" tIns="0" rIns="0" bIns="0" rtlCol="0" anchor="t"/>
          <a:lstStyle/>
          <a:p>
            <a:pPr marL="0" indent="0">
              <a:buNone/>
            </a:pPr>
            <a:r>
              <a:rPr lang="en-US" sz="1150"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Class-weighted estimation to address 68/32 class imbalance</a:t>
            </a:r>
            <a:endParaRPr lang="en-US" sz="1150" dirty="0"/>
          </a:p>
        </p:txBody>
      </p:sp>
      <p:sp>
        <p:nvSpPr>
          <p:cNvPr id="11" name="Text 9"/>
          <p:cNvSpPr/>
          <p:nvPr/>
        </p:nvSpPr>
        <p:spPr>
          <a:xfrm>
            <a:off x="548640" y="3474720"/>
            <a:ext cx="4846320" cy="365760"/>
          </a:xfrm>
          <a:prstGeom prst="rect">
            <a:avLst/>
          </a:prstGeom>
          <a:noFill/>
          <a:ln/>
        </p:spPr>
        <p:txBody>
          <a:bodyPr wrap="square" lIns="0" tIns="0" rIns="0" bIns="0" rtlCol="0" anchor="t"/>
          <a:lstStyle/>
          <a:p>
            <a:pPr marL="0" indent="0">
              <a:buNone/>
            </a:pPr>
            <a:r>
              <a:rPr lang="en-US" sz="1150" dirty="0">
                <a:solidFill>
                  <a:srgbClr val="E84A5F"/>
                </a:solidFill>
                <a:latin typeface="Calibri" pitchFamily="34" charset="0"/>
                <a:ea typeface="Calibri" pitchFamily="34" charset="-122"/>
                <a:cs typeface="Calibri" pitchFamily="34" charset="-120"/>
              </a:rPr>
              <a:t>◆ </a:t>
            </a:r>
            <a:r>
              <a:rPr lang="en-US" sz="1150" dirty="0">
                <a:solidFill>
                  <a:srgbClr val="1A1A2E"/>
                </a:solidFill>
                <a:latin typeface="Calibri" pitchFamily="34" charset="0"/>
                <a:ea typeface="Calibri" pitchFamily="34" charset="-122"/>
                <a:cs typeface="Calibri" pitchFamily="34" charset="-120"/>
              </a:rPr>
              <a:t>80/20 train-test split for predictive performance validation</a:t>
            </a:r>
            <a:endParaRPr lang="en-US" sz="1150" dirty="0"/>
          </a:p>
        </p:txBody>
      </p:sp>
      <p:sp>
        <p:nvSpPr>
          <p:cNvPr id="12" name="Text 10"/>
          <p:cNvSpPr/>
          <p:nvPr/>
        </p:nvSpPr>
        <p:spPr>
          <a:xfrm>
            <a:off x="5577840" y="1143000"/>
            <a:ext cx="3291840" cy="365760"/>
          </a:xfrm>
          <a:prstGeom prst="rect">
            <a:avLst/>
          </a:prstGeom>
          <a:noFill/>
          <a:ln/>
        </p:spPr>
        <p:txBody>
          <a:bodyPr wrap="square" lIns="0" tIns="0" rIns="0" bIns="0" rtlCol="0" anchor="ctr"/>
          <a:lstStyle/>
          <a:p>
            <a:pPr marL="0" indent="0" algn="ctr">
              <a:buNone/>
            </a:pPr>
            <a:r>
              <a:rPr lang="en-US" sz="1300" b="1" dirty="0">
                <a:solidFill>
                  <a:srgbClr val="1C4B82"/>
                </a:solidFill>
                <a:latin typeface="Calibri" pitchFamily="34" charset="0"/>
                <a:ea typeface="Calibri" pitchFamily="34" charset="-122"/>
                <a:cs typeface="Calibri" pitchFamily="34" charset="-120"/>
              </a:rPr>
              <a:t>Model Performance</a:t>
            </a:r>
            <a:endParaRPr lang="en-US" sz="1300" dirty="0"/>
          </a:p>
        </p:txBody>
      </p:sp>
      <p:sp>
        <p:nvSpPr>
          <p:cNvPr id="13" name="Shape 11"/>
          <p:cNvSpPr/>
          <p:nvPr/>
        </p:nvSpPr>
        <p:spPr>
          <a:xfrm>
            <a:off x="5577840" y="1600200"/>
            <a:ext cx="329184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14" name="Shape 12"/>
          <p:cNvSpPr/>
          <p:nvPr/>
        </p:nvSpPr>
        <p:spPr>
          <a:xfrm>
            <a:off x="5577840" y="1600200"/>
            <a:ext cx="54864" cy="749808"/>
          </a:xfrm>
          <a:prstGeom prst="rect">
            <a:avLst/>
          </a:prstGeom>
          <a:solidFill>
            <a:srgbClr val="1C7C3D"/>
          </a:solidFill>
          <a:ln/>
        </p:spPr>
        <p:txBody>
          <a:bodyPr/>
          <a:lstStyle/>
          <a:p>
            <a:endParaRPr lang="en-GB"/>
          </a:p>
        </p:txBody>
      </p:sp>
      <p:sp>
        <p:nvSpPr>
          <p:cNvPr id="15" name="Text 13"/>
          <p:cNvSpPr/>
          <p:nvPr/>
        </p:nvSpPr>
        <p:spPr>
          <a:xfrm>
            <a:off x="5715000" y="1645920"/>
            <a:ext cx="1005840" cy="411480"/>
          </a:xfrm>
          <a:prstGeom prst="rect">
            <a:avLst/>
          </a:prstGeom>
          <a:noFill/>
          <a:ln/>
        </p:spPr>
        <p:txBody>
          <a:bodyPr wrap="square" lIns="0" tIns="0" rIns="0" bIns="0" rtlCol="0" anchor="ctr"/>
          <a:lstStyle/>
          <a:p>
            <a:pPr marL="0" indent="0">
              <a:buNone/>
            </a:pPr>
            <a:r>
              <a:rPr lang="en-US" sz="2000" b="1" dirty="0">
                <a:solidFill>
                  <a:srgbClr val="1C7C3D"/>
                </a:solidFill>
                <a:latin typeface="Calibri" pitchFamily="34" charset="0"/>
                <a:ea typeface="Calibri" pitchFamily="34" charset="-122"/>
                <a:cs typeface="Calibri" pitchFamily="34" charset="-120"/>
              </a:rPr>
              <a:t>0.692</a:t>
            </a:r>
            <a:endParaRPr lang="en-US" sz="2000" dirty="0"/>
          </a:p>
        </p:txBody>
      </p:sp>
      <p:sp>
        <p:nvSpPr>
          <p:cNvPr id="16" name="Text 14"/>
          <p:cNvSpPr/>
          <p:nvPr/>
        </p:nvSpPr>
        <p:spPr>
          <a:xfrm>
            <a:off x="6720840" y="1645920"/>
            <a:ext cx="2103120" cy="320040"/>
          </a:xfrm>
          <a:prstGeom prst="rect">
            <a:avLst/>
          </a:prstGeom>
          <a:noFill/>
          <a:ln/>
        </p:spPr>
        <p:txBody>
          <a:bodyPr wrap="square" lIns="0" tIns="0" rIns="0" bIns="0" rtlCol="0" anchor="ctr"/>
          <a:lstStyle/>
          <a:p>
            <a:pPr marL="0" indent="0">
              <a:buNone/>
            </a:pPr>
            <a:r>
              <a:rPr lang="en-US" altLang="zh-CN" sz="1150" b="1" dirty="0">
                <a:solidFill>
                  <a:srgbClr val="1A1A2E"/>
                </a:solidFill>
                <a:latin typeface="Calibri" pitchFamily="34" charset="0"/>
                <a:ea typeface="Calibri" pitchFamily="34" charset="-122"/>
                <a:cs typeface="Calibri" pitchFamily="34" charset="-120"/>
              </a:rPr>
              <a:t>Pseudo </a:t>
            </a:r>
            <a:r>
              <a:rPr lang="en-US" sz="1150" b="1" dirty="0">
                <a:solidFill>
                  <a:srgbClr val="1A1A2E"/>
                </a:solidFill>
                <a:latin typeface="Calibri" pitchFamily="34" charset="0"/>
                <a:ea typeface="Calibri" pitchFamily="34" charset="-122"/>
                <a:cs typeface="Calibri" pitchFamily="34" charset="-120"/>
              </a:rPr>
              <a:t>R²</a:t>
            </a:r>
            <a:endParaRPr lang="en-US" sz="1150" dirty="0"/>
          </a:p>
        </p:txBody>
      </p:sp>
      <p:sp>
        <p:nvSpPr>
          <p:cNvPr id="17" name="Text 15"/>
          <p:cNvSpPr/>
          <p:nvPr/>
        </p:nvSpPr>
        <p:spPr>
          <a:xfrm>
            <a:off x="6720840" y="1984248"/>
            <a:ext cx="2103120" cy="292608"/>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Excellent fit (&gt;0.4 = outstanding)</a:t>
            </a:r>
            <a:endParaRPr lang="en-US" sz="1000" dirty="0"/>
          </a:p>
        </p:txBody>
      </p:sp>
      <p:sp>
        <p:nvSpPr>
          <p:cNvPr id="18" name="Shape 16"/>
          <p:cNvSpPr/>
          <p:nvPr/>
        </p:nvSpPr>
        <p:spPr>
          <a:xfrm>
            <a:off x="5577840" y="2441448"/>
            <a:ext cx="329184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19" name="Shape 17"/>
          <p:cNvSpPr/>
          <p:nvPr/>
        </p:nvSpPr>
        <p:spPr>
          <a:xfrm>
            <a:off x="5577840" y="2441448"/>
            <a:ext cx="54864" cy="749808"/>
          </a:xfrm>
          <a:prstGeom prst="rect">
            <a:avLst/>
          </a:prstGeom>
          <a:solidFill>
            <a:srgbClr val="028090"/>
          </a:solidFill>
          <a:ln/>
        </p:spPr>
        <p:txBody>
          <a:bodyPr/>
          <a:lstStyle/>
          <a:p>
            <a:endParaRPr lang="en-GB"/>
          </a:p>
        </p:txBody>
      </p:sp>
      <p:sp>
        <p:nvSpPr>
          <p:cNvPr id="20" name="Text 18"/>
          <p:cNvSpPr/>
          <p:nvPr/>
        </p:nvSpPr>
        <p:spPr>
          <a:xfrm>
            <a:off x="5715000" y="2487168"/>
            <a:ext cx="1005840" cy="411480"/>
          </a:xfrm>
          <a:prstGeom prst="rect">
            <a:avLst/>
          </a:prstGeom>
          <a:noFill/>
          <a:ln/>
        </p:spPr>
        <p:txBody>
          <a:bodyPr wrap="square" lIns="0" tIns="0" rIns="0" bIns="0" rtlCol="0" anchor="ctr"/>
          <a:lstStyle/>
          <a:p>
            <a:pPr marL="0" indent="0">
              <a:buNone/>
            </a:pPr>
            <a:r>
              <a:rPr lang="en-US" sz="2000" b="1" dirty="0">
                <a:solidFill>
                  <a:srgbClr val="028090"/>
                </a:solidFill>
                <a:latin typeface="Calibri" pitchFamily="34" charset="0"/>
                <a:ea typeface="Calibri" pitchFamily="34" charset="-122"/>
                <a:cs typeface="Calibri" pitchFamily="34" charset="-120"/>
              </a:rPr>
              <a:t>0.973</a:t>
            </a:r>
            <a:endParaRPr lang="en-US" sz="2000" dirty="0"/>
          </a:p>
        </p:txBody>
      </p:sp>
      <p:sp>
        <p:nvSpPr>
          <p:cNvPr id="21" name="Text 19"/>
          <p:cNvSpPr/>
          <p:nvPr/>
        </p:nvSpPr>
        <p:spPr>
          <a:xfrm>
            <a:off x="6720840" y="2487168"/>
            <a:ext cx="2103120" cy="320040"/>
          </a:xfrm>
          <a:prstGeom prst="rect">
            <a:avLst/>
          </a:prstGeom>
          <a:noFill/>
          <a:ln/>
        </p:spPr>
        <p:txBody>
          <a:bodyPr wrap="square" lIns="0" tIns="0" rIns="0" bIns="0" rtlCol="0" anchor="ctr"/>
          <a:lstStyle/>
          <a:p>
            <a:pPr marL="0" indent="0">
              <a:buNone/>
            </a:pPr>
            <a:r>
              <a:rPr lang="en-US" sz="1150" b="1" dirty="0">
                <a:solidFill>
                  <a:srgbClr val="1A1A2E"/>
                </a:solidFill>
                <a:latin typeface="Calibri" pitchFamily="34" charset="0"/>
                <a:ea typeface="Calibri" pitchFamily="34" charset="-122"/>
                <a:cs typeface="Calibri" pitchFamily="34" charset="-120"/>
              </a:rPr>
              <a:t>ROC-AUC</a:t>
            </a:r>
            <a:endParaRPr lang="en-US" sz="1150" dirty="0"/>
          </a:p>
        </p:txBody>
      </p:sp>
      <p:sp>
        <p:nvSpPr>
          <p:cNvPr id="22" name="Text 20"/>
          <p:cNvSpPr/>
          <p:nvPr/>
        </p:nvSpPr>
        <p:spPr>
          <a:xfrm>
            <a:off x="6720840" y="2825496"/>
            <a:ext cx="2103120" cy="292608"/>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Near-perfect discrimination</a:t>
            </a:r>
            <a:endParaRPr lang="en-US" sz="1000" dirty="0"/>
          </a:p>
        </p:txBody>
      </p:sp>
      <p:sp>
        <p:nvSpPr>
          <p:cNvPr id="23" name="Shape 21"/>
          <p:cNvSpPr/>
          <p:nvPr/>
        </p:nvSpPr>
        <p:spPr>
          <a:xfrm>
            <a:off x="5577840" y="3282696"/>
            <a:ext cx="329184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24" name="Shape 22"/>
          <p:cNvSpPr/>
          <p:nvPr/>
        </p:nvSpPr>
        <p:spPr>
          <a:xfrm>
            <a:off x="5577840" y="3282696"/>
            <a:ext cx="54864" cy="749808"/>
          </a:xfrm>
          <a:prstGeom prst="rect">
            <a:avLst/>
          </a:prstGeom>
          <a:solidFill>
            <a:srgbClr val="1C4B82"/>
          </a:solidFill>
          <a:ln/>
        </p:spPr>
        <p:txBody>
          <a:bodyPr/>
          <a:lstStyle/>
          <a:p>
            <a:endParaRPr lang="en-GB"/>
          </a:p>
        </p:txBody>
      </p:sp>
      <p:sp>
        <p:nvSpPr>
          <p:cNvPr id="25" name="Text 23"/>
          <p:cNvSpPr/>
          <p:nvPr/>
        </p:nvSpPr>
        <p:spPr>
          <a:xfrm>
            <a:off x="5715000" y="3328416"/>
            <a:ext cx="1005840" cy="411480"/>
          </a:xfrm>
          <a:prstGeom prst="rect">
            <a:avLst/>
          </a:prstGeom>
          <a:noFill/>
          <a:ln/>
        </p:spPr>
        <p:txBody>
          <a:bodyPr wrap="square" lIns="0" tIns="0" rIns="0" bIns="0" rtlCol="0" anchor="ctr"/>
          <a:lstStyle/>
          <a:p>
            <a:pPr marL="0" indent="0">
              <a:buNone/>
            </a:pPr>
            <a:r>
              <a:rPr lang="en-US" sz="2000" b="1" dirty="0">
                <a:solidFill>
                  <a:srgbClr val="1C4B82"/>
                </a:solidFill>
                <a:latin typeface="Calibri" pitchFamily="34" charset="0"/>
                <a:ea typeface="Calibri" pitchFamily="34" charset="-122"/>
                <a:cs typeface="Calibri" pitchFamily="34" charset="-120"/>
              </a:rPr>
              <a:t>91.6%</a:t>
            </a:r>
            <a:endParaRPr lang="en-US" sz="2000" dirty="0"/>
          </a:p>
        </p:txBody>
      </p:sp>
      <p:sp>
        <p:nvSpPr>
          <p:cNvPr id="26" name="Text 24"/>
          <p:cNvSpPr/>
          <p:nvPr/>
        </p:nvSpPr>
        <p:spPr>
          <a:xfrm>
            <a:off x="6720840" y="3328416"/>
            <a:ext cx="2103120" cy="320040"/>
          </a:xfrm>
          <a:prstGeom prst="rect">
            <a:avLst/>
          </a:prstGeom>
          <a:noFill/>
          <a:ln/>
        </p:spPr>
        <p:txBody>
          <a:bodyPr wrap="square" lIns="0" tIns="0" rIns="0" bIns="0" rtlCol="0" anchor="ctr"/>
          <a:lstStyle/>
          <a:p>
            <a:pPr marL="0" indent="0">
              <a:buNone/>
            </a:pPr>
            <a:r>
              <a:rPr lang="en-US" sz="1150" b="1" dirty="0">
                <a:solidFill>
                  <a:srgbClr val="1A1A2E"/>
                </a:solidFill>
                <a:latin typeface="Calibri" pitchFamily="34" charset="0"/>
                <a:ea typeface="Calibri" pitchFamily="34" charset="-122"/>
                <a:cs typeface="Calibri" pitchFamily="34" charset="-120"/>
              </a:rPr>
              <a:t>Test Accuracy</a:t>
            </a:r>
            <a:endParaRPr lang="en-US" sz="1150" dirty="0"/>
          </a:p>
        </p:txBody>
      </p:sp>
      <p:sp>
        <p:nvSpPr>
          <p:cNvPr id="27" name="Text 25"/>
          <p:cNvSpPr/>
          <p:nvPr/>
        </p:nvSpPr>
        <p:spPr>
          <a:xfrm>
            <a:off x="6720840" y="3666744"/>
            <a:ext cx="2103120" cy="292608"/>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80/20 holdout sample</a:t>
            </a:r>
            <a:endParaRPr lang="en-US" sz="1000" dirty="0"/>
          </a:p>
        </p:txBody>
      </p:sp>
      <p:sp>
        <p:nvSpPr>
          <p:cNvPr id="28" name="Shape 26"/>
          <p:cNvSpPr/>
          <p:nvPr/>
        </p:nvSpPr>
        <p:spPr>
          <a:xfrm>
            <a:off x="5577840" y="4123944"/>
            <a:ext cx="3291840" cy="74980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29" name="Shape 27"/>
          <p:cNvSpPr/>
          <p:nvPr/>
        </p:nvSpPr>
        <p:spPr>
          <a:xfrm>
            <a:off x="5577840" y="4123944"/>
            <a:ext cx="54864" cy="749808"/>
          </a:xfrm>
          <a:prstGeom prst="rect">
            <a:avLst/>
          </a:prstGeom>
          <a:solidFill>
            <a:srgbClr val="2E86AB"/>
          </a:solidFill>
          <a:ln/>
        </p:spPr>
        <p:txBody>
          <a:bodyPr/>
          <a:lstStyle/>
          <a:p>
            <a:endParaRPr lang="en-GB"/>
          </a:p>
        </p:txBody>
      </p:sp>
      <p:sp>
        <p:nvSpPr>
          <p:cNvPr id="30" name="Text 28"/>
          <p:cNvSpPr/>
          <p:nvPr/>
        </p:nvSpPr>
        <p:spPr>
          <a:xfrm>
            <a:off x="5715000" y="4169664"/>
            <a:ext cx="1005840" cy="411480"/>
          </a:xfrm>
          <a:prstGeom prst="rect">
            <a:avLst/>
          </a:prstGeom>
          <a:noFill/>
          <a:ln/>
        </p:spPr>
        <p:txBody>
          <a:bodyPr wrap="square" lIns="0" tIns="0" rIns="0" bIns="0" rtlCol="0" anchor="ctr"/>
          <a:lstStyle/>
          <a:p>
            <a:pPr marL="0" indent="0">
              <a:buNone/>
            </a:pPr>
            <a:r>
              <a:rPr lang="en-US" sz="2000" b="1" dirty="0">
                <a:solidFill>
                  <a:srgbClr val="2E86AB"/>
                </a:solidFill>
                <a:latin typeface="Calibri" pitchFamily="34" charset="0"/>
                <a:ea typeface="Calibri" pitchFamily="34" charset="-122"/>
                <a:cs typeface="Calibri" pitchFamily="34" charset="-120"/>
              </a:rPr>
              <a:t>&lt;0.001</a:t>
            </a:r>
            <a:endParaRPr lang="en-US" sz="2000" dirty="0"/>
          </a:p>
        </p:txBody>
      </p:sp>
      <p:sp>
        <p:nvSpPr>
          <p:cNvPr id="31" name="Text 29"/>
          <p:cNvSpPr/>
          <p:nvPr/>
        </p:nvSpPr>
        <p:spPr>
          <a:xfrm>
            <a:off x="6720840" y="4169664"/>
            <a:ext cx="2103120" cy="320040"/>
          </a:xfrm>
          <a:prstGeom prst="rect">
            <a:avLst/>
          </a:prstGeom>
          <a:noFill/>
          <a:ln/>
        </p:spPr>
        <p:txBody>
          <a:bodyPr wrap="square" lIns="0" tIns="0" rIns="0" bIns="0" rtlCol="0" anchor="ctr"/>
          <a:lstStyle/>
          <a:p>
            <a:pPr marL="0" indent="0">
              <a:buNone/>
            </a:pPr>
            <a:r>
              <a:rPr lang="en-US" sz="1150" b="1" dirty="0">
                <a:solidFill>
                  <a:srgbClr val="1A1A2E"/>
                </a:solidFill>
                <a:latin typeface="Calibri" pitchFamily="34" charset="0"/>
                <a:ea typeface="Calibri" pitchFamily="34" charset="-122"/>
                <a:cs typeface="Calibri" pitchFamily="34" charset="-120"/>
              </a:rPr>
              <a:t>Model p-value</a:t>
            </a:r>
            <a:endParaRPr lang="en-US" sz="1150" dirty="0"/>
          </a:p>
        </p:txBody>
      </p:sp>
      <p:sp>
        <p:nvSpPr>
          <p:cNvPr id="32" name="Text 30"/>
          <p:cNvSpPr/>
          <p:nvPr/>
        </p:nvSpPr>
        <p:spPr>
          <a:xfrm>
            <a:off x="6720840" y="4507992"/>
            <a:ext cx="2103120" cy="292608"/>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Highly statistically significant</a:t>
            </a:r>
            <a:endParaRPr lang="en-US" sz="1000" dirty="0"/>
          </a:p>
        </p:txBody>
      </p:sp>
      <p:sp>
        <p:nvSpPr>
          <p:cNvPr id="34" name="TextBox 33">
            <a:extLst>
              <a:ext uri="{FF2B5EF4-FFF2-40B4-BE49-F238E27FC236}">
                <a16:creationId xmlns:a16="http://schemas.microsoft.com/office/drawing/2014/main" id="{2D87D70C-44D5-980C-2553-4DD489175FB7}"/>
              </a:ext>
            </a:extLst>
          </p:cNvPr>
          <p:cNvSpPr txBox="1"/>
          <p:nvPr/>
        </p:nvSpPr>
        <p:spPr>
          <a:xfrm>
            <a:off x="430306" y="3739896"/>
            <a:ext cx="4572000" cy="292388"/>
          </a:xfrm>
          <a:prstGeom prst="rect">
            <a:avLst/>
          </a:prstGeom>
          <a:noFill/>
        </p:spPr>
        <p:txBody>
          <a:bodyPr wrap="square">
            <a:spAutoFit/>
          </a:bodyPr>
          <a:lstStyle/>
          <a:p>
            <a:pPr marL="0" indent="0">
              <a:buNone/>
            </a:pPr>
            <a:r>
              <a:rPr lang="en-US" altLang="zh-CN" sz="1300" b="1" dirty="0">
                <a:solidFill>
                  <a:srgbClr val="1C4B82"/>
                </a:solidFill>
                <a:latin typeface="Calibri" pitchFamily="34" charset="0"/>
                <a:ea typeface="Calibri" pitchFamily="34" charset="-122"/>
                <a:cs typeface="Calibri" pitchFamily="34" charset="-120"/>
              </a:rPr>
              <a:t>Data</a:t>
            </a:r>
            <a:r>
              <a:rPr lang="zh-CN" altLang="en-US" sz="1300" b="1" dirty="0">
                <a:solidFill>
                  <a:srgbClr val="1C4B82"/>
                </a:solidFill>
                <a:latin typeface="Calibri" pitchFamily="34" charset="0"/>
                <a:ea typeface="Calibri" pitchFamily="34" charset="-122"/>
                <a:cs typeface="Calibri" pitchFamily="34" charset="-120"/>
              </a:rPr>
              <a:t> </a:t>
            </a:r>
            <a:r>
              <a:rPr lang="en-US" altLang="zh-CN" sz="1300" b="1" dirty="0">
                <a:solidFill>
                  <a:srgbClr val="1C4B82"/>
                </a:solidFill>
                <a:latin typeface="Calibri" pitchFamily="34" charset="0"/>
                <a:ea typeface="Calibri" pitchFamily="34" charset="-122"/>
                <a:cs typeface="Calibri" pitchFamily="34" charset="-120"/>
              </a:rPr>
              <a:t>Description</a:t>
            </a:r>
            <a:r>
              <a:rPr lang="en-GB" altLang="zh-CN" sz="1300" b="1" dirty="0">
                <a:solidFill>
                  <a:srgbClr val="1C4B82"/>
                </a:solidFill>
                <a:latin typeface="Calibri" pitchFamily="34" charset="0"/>
                <a:ea typeface="Calibri" pitchFamily="34" charset="-122"/>
                <a:cs typeface="Calibri" pitchFamily="34" charset="-120"/>
              </a:rPr>
              <a:t>: See appendix</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228600" y="137160"/>
            <a:ext cx="640080" cy="777240"/>
          </a:xfrm>
          <a:prstGeom prst="rect">
            <a:avLst/>
          </a:prstGeom>
          <a:noFill/>
          <a:ln/>
        </p:spPr>
        <p:txBody>
          <a:bodyPr wrap="square" lIns="0" tIns="0" rIns="0" bIns="0" rtlCol="0" anchor="ctr"/>
          <a:lstStyle/>
          <a:p>
            <a:pPr marL="0" indent="0">
              <a:buNone/>
            </a:pPr>
            <a:r>
              <a:rPr lang="en-US" sz="1800" b="1" dirty="0">
                <a:solidFill>
                  <a:srgbClr val="E84A5F"/>
                </a:solidFill>
                <a:latin typeface="Calibri" pitchFamily="34" charset="0"/>
                <a:ea typeface="Calibri" pitchFamily="34" charset="-122"/>
                <a:cs typeface="Calibri" pitchFamily="34" charset="-120"/>
              </a:rPr>
              <a:t>04</a:t>
            </a:r>
            <a:endParaRPr lang="en-US" sz="1800" dirty="0"/>
          </a:p>
        </p:txBody>
      </p:sp>
      <p:sp>
        <p:nvSpPr>
          <p:cNvPr id="4" name="Text 2"/>
          <p:cNvSpPr/>
          <p:nvPr/>
        </p:nvSpPr>
        <p:spPr>
          <a:xfrm>
            <a:off x="822960" y="137160"/>
            <a:ext cx="77724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Findings — Five Drivers of Churn</a:t>
            </a:r>
            <a:endParaRPr lang="en-US" sz="2800" dirty="0"/>
          </a:p>
        </p:txBody>
      </p:sp>
      <p:sp>
        <p:nvSpPr>
          <p:cNvPr id="5" name="Shape 3"/>
          <p:cNvSpPr/>
          <p:nvPr/>
        </p:nvSpPr>
        <p:spPr>
          <a:xfrm>
            <a:off x="164592" y="1188720"/>
            <a:ext cx="283464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6" name="Shape 4"/>
          <p:cNvSpPr/>
          <p:nvPr/>
        </p:nvSpPr>
        <p:spPr>
          <a:xfrm>
            <a:off x="164592" y="1188720"/>
            <a:ext cx="2834640" cy="292608"/>
          </a:xfrm>
          <a:prstGeom prst="rect">
            <a:avLst/>
          </a:prstGeom>
          <a:solidFill>
            <a:srgbClr val="1C4B82"/>
          </a:solidFill>
          <a:ln/>
        </p:spPr>
        <p:txBody>
          <a:bodyPr/>
          <a:lstStyle/>
          <a:p>
            <a:endParaRPr lang="en-GB"/>
          </a:p>
        </p:txBody>
      </p:sp>
      <p:sp>
        <p:nvSpPr>
          <p:cNvPr id="7" name="Text 5"/>
          <p:cNvSpPr/>
          <p:nvPr/>
        </p:nvSpPr>
        <p:spPr>
          <a:xfrm>
            <a:off x="237744" y="1225296"/>
            <a:ext cx="2688336"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Satisfaction Score</a:t>
            </a:r>
            <a:endParaRPr lang="en-US" sz="1200" dirty="0"/>
          </a:p>
        </p:txBody>
      </p:sp>
      <p:sp>
        <p:nvSpPr>
          <p:cNvPr id="8" name="Shape 6"/>
          <p:cNvSpPr/>
          <p:nvPr/>
        </p:nvSpPr>
        <p:spPr>
          <a:xfrm>
            <a:off x="2267712" y="1536192"/>
            <a:ext cx="640080" cy="384048"/>
          </a:xfrm>
          <a:prstGeom prst="rect">
            <a:avLst/>
          </a:prstGeom>
          <a:solidFill>
            <a:srgbClr val="1C4B82">
              <a:alpha val="85000"/>
            </a:srgbClr>
          </a:solidFill>
          <a:ln w="12700">
            <a:solidFill>
              <a:srgbClr val="1C4B82"/>
            </a:solidFill>
            <a:prstDash val="solid"/>
          </a:ln>
        </p:spPr>
        <p:txBody>
          <a:bodyPr/>
          <a:lstStyle/>
          <a:p>
            <a:endParaRPr lang="en-GB"/>
          </a:p>
        </p:txBody>
      </p:sp>
      <p:sp>
        <p:nvSpPr>
          <p:cNvPr id="9" name="Text 7"/>
          <p:cNvSpPr/>
          <p:nvPr/>
        </p:nvSpPr>
        <p:spPr>
          <a:xfrm>
            <a:off x="2267712" y="1536192"/>
            <a:ext cx="640080" cy="38404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OR</a:t>
            </a:r>
            <a:endParaRPr lang="en-US" sz="900" dirty="0">
              <a:solidFill>
                <a:schemeClr val="bg1"/>
              </a:solidFill>
            </a:endParaRPr>
          </a:p>
          <a:p>
            <a:pPr marL="0" indent="0" algn="ctr">
              <a:buNone/>
            </a:pPr>
            <a:r>
              <a:rPr lang="en-US" sz="900" b="1" dirty="0">
                <a:solidFill>
                  <a:schemeClr val="bg1"/>
                </a:solidFill>
                <a:latin typeface="Calibri" pitchFamily="34" charset="0"/>
                <a:ea typeface="Calibri" pitchFamily="34" charset="-122"/>
                <a:cs typeface="Calibri" pitchFamily="34" charset="-120"/>
              </a:rPr>
              <a:t>0.24</a:t>
            </a:r>
            <a:endParaRPr lang="en-US" sz="900" dirty="0">
              <a:solidFill>
                <a:schemeClr val="bg1"/>
              </a:solidFill>
            </a:endParaRPr>
          </a:p>
        </p:txBody>
      </p:sp>
      <p:sp>
        <p:nvSpPr>
          <p:cNvPr id="10" name="Text 8"/>
          <p:cNvSpPr/>
          <p:nvPr/>
        </p:nvSpPr>
        <p:spPr>
          <a:xfrm>
            <a:off x="256032" y="1536192"/>
            <a:ext cx="1371600" cy="201168"/>
          </a:xfrm>
          <a:prstGeom prst="rect">
            <a:avLst/>
          </a:prstGeom>
          <a:noFill/>
          <a:ln/>
        </p:spPr>
        <p:txBody>
          <a:bodyPr wrap="square" lIns="0" tIns="0" rIns="0" bIns="0" rtlCol="0" anchor="ctr"/>
          <a:lstStyle/>
          <a:p>
            <a:pPr marL="0" indent="0">
              <a:buNone/>
            </a:pPr>
            <a:r>
              <a:rPr lang="en-US" sz="1100" b="1" dirty="0">
                <a:solidFill>
                  <a:srgbClr val="1C4B82"/>
                </a:solidFill>
                <a:latin typeface="Calibri" pitchFamily="34" charset="0"/>
                <a:ea typeface="Calibri" pitchFamily="34" charset="-122"/>
                <a:cs typeface="Calibri" pitchFamily="34" charset="-120"/>
              </a:rPr>
              <a:t>Coef: -1.44</a:t>
            </a:r>
            <a:endParaRPr lang="en-US" sz="1100" dirty="0"/>
          </a:p>
        </p:txBody>
      </p:sp>
      <p:sp>
        <p:nvSpPr>
          <p:cNvPr id="11" name="Text 9"/>
          <p:cNvSpPr/>
          <p:nvPr/>
        </p:nvSpPr>
        <p:spPr>
          <a:xfrm>
            <a:off x="256032" y="1737360"/>
            <a:ext cx="1280160" cy="18288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p&lt;0.001</a:t>
            </a:r>
            <a:endParaRPr lang="en-US" sz="1000" dirty="0"/>
          </a:p>
        </p:txBody>
      </p:sp>
      <p:sp>
        <p:nvSpPr>
          <p:cNvPr id="12" name="Text 10"/>
          <p:cNvSpPr/>
          <p:nvPr/>
        </p:nvSpPr>
        <p:spPr>
          <a:xfrm>
            <a:off x="256032" y="1993392"/>
            <a:ext cx="2651760" cy="777240"/>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1-pt increase in satisfaction → 76% lower churn odds</a:t>
            </a:r>
            <a:endParaRPr lang="en-US" sz="1100" dirty="0"/>
          </a:p>
        </p:txBody>
      </p:sp>
      <p:sp>
        <p:nvSpPr>
          <p:cNvPr id="13" name="Shape 11"/>
          <p:cNvSpPr/>
          <p:nvPr/>
        </p:nvSpPr>
        <p:spPr>
          <a:xfrm>
            <a:off x="3163824" y="1188720"/>
            <a:ext cx="283464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14" name="Shape 12"/>
          <p:cNvSpPr/>
          <p:nvPr/>
        </p:nvSpPr>
        <p:spPr>
          <a:xfrm>
            <a:off x="3163824" y="1188720"/>
            <a:ext cx="2834640" cy="292608"/>
          </a:xfrm>
          <a:prstGeom prst="rect">
            <a:avLst/>
          </a:prstGeom>
          <a:solidFill>
            <a:srgbClr val="2E86AB"/>
          </a:solidFill>
          <a:ln/>
        </p:spPr>
        <p:txBody>
          <a:bodyPr/>
          <a:lstStyle/>
          <a:p>
            <a:endParaRPr lang="en-GB"/>
          </a:p>
        </p:txBody>
      </p:sp>
      <p:sp>
        <p:nvSpPr>
          <p:cNvPr id="15" name="Text 13"/>
          <p:cNvSpPr/>
          <p:nvPr/>
        </p:nvSpPr>
        <p:spPr>
          <a:xfrm>
            <a:off x="3236976" y="1225296"/>
            <a:ext cx="2688336"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Contract Type</a:t>
            </a:r>
            <a:endParaRPr lang="en-US" sz="1200" dirty="0"/>
          </a:p>
        </p:txBody>
      </p:sp>
      <p:sp>
        <p:nvSpPr>
          <p:cNvPr id="16" name="Shape 14"/>
          <p:cNvSpPr/>
          <p:nvPr/>
        </p:nvSpPr>
        <p:spPr>
          <a:xfrm>
            <a:off x="5266944" y="1536192"/>
            <a:ext cx="640080" cy="384048"/>
          </a:xfrm>
          <a:prstGeom prst="rect">
            <a:avLst/>
          </a:prstGeom>
          <a:solidFill>
            <a:srgbClr val="2E86AB">
              <a:alpha val="85000"/>
            </a:srgbClr>
          </a:solidFill>
          <a:ln w="12700">
            <a:solidFill>
              <a:srgbClr val="2E86AB"/>
            </a:solidFill>
            <a:prstDash val="solid"/>
          </a:ln>
        </p:spPr>
        <p:txBody>
          <a:bodyPr/>
          <a:lstStyle/>
          <a:p>
            <a:endParaRPr lang="en-GB"/>
          </a:p>
        </p:txBody>
      </p:sp>
      <p:sp>
        <p:nvSpPr>
          <p:cNvPr id="17" name="Text 15"/>
          <p:cNvSpPr/>
          <p:nvPr/>
        </p:nvSpPr>
        <p:spPr>
          <a:xfrm>
            <a:off x="5266944" y="1536192"/>
            <a:ext cx="640080" cy="38404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OR</a:t>
            </a:r>
            <a:endParaRPr lang="en-US" sz="900" dirty="0">
              <a:solidFill>
                <a:schemeClr val="bg1"/>
              </a:solidFill>
            </a:endParaRPr>
          </a:p>
          <a:p>
            <a:pPr marL="0" indent="0" algn="ctr">
              <a:buNone/>
            </a:pPr>
            <a:r>
              <a:rPr lang="en-US" sz="900" b="1" dirty="0">
                <a:solidFill>
                  <a:schemeClr val="bg1"/>
                </a:solidFill>
                <a:latin typeface="Calibri" pitchFamily="34" charset="0"/>
                <a:ea typeface="Calibri" pitchFamily="34" charset="-122"/>
                <a:cs typeface="Calibri" pitchFamily="34" charset="-120"/>
              </a:rPr>
              <a:t>0.24</a:t>
            </a:r>
            <a:endParaRPr lang="en-US" sz="900" dirty="0">
              <a:solidFill>
                <a:schemeClr val="bg1"/>
              </a:solidFill>
            </a:endParaRPr>
          </a:p>
        </p:txBody>
      </p:sp>
      <p:sp>
        <p:nvSpPr>
          <p:cNvPr id="18" name="Text 16"/>
          <p:cNvSpPr/>
          <p:nvPr/>
        </p:nvSpPr>
        <p:spPr>
          <a:xfrm>
            <a:off x="3255264" y="1536192"/>
            <a:ext cx="1371600" cy="201168"/>
          </a:xfrm>
          <a:prstGeom prst="rect">
            <a:avLst/>
          </a:prstGeom>
          <a:noFill/>
          <a:ln/>
        </p:spPr>
        <p:txBody>
          <a:bodyPr wrap="square" lIns="0" tIns="0" rIns="0" bIns="0" rtlCol="0" anchor="ctr"/>
          <a:lstStyle/>
          <a:p>
            <a:pPr marL="0" indent="0">
              <a:buNone/>
            </a:pPr>
            <a:r>
              <a:rPr lang="en-US" sz="1100" b="1" dirty="0">
                <a:solidFill>
                  <a:srgbClr val="2E86AB"/>
                </a:solidFill>
                <a:latin typeface="Calibri" pitchFamily="34" charset="0"/>
                <a:ea typeface="Calibri" pitchFamily="34" charset="-122"/>
                <a:cs typeface="Calibri" pitchFamily="34" charset="-120"/>
              </a:rPr>
              <a:t>Coef: -1.42</a:t>
            </a:r>
            <a:endParaRPr lang="en-US" sz="1100" dirty="0"/>
          </a:p>
        </p:txBody>
      </p:sp>
      <p:sp>
        <p:nvSpPr>
          <p:cNvPr id="19" name="Text 17"/>
          <p:cNvSpPr/>
          <p:nvPr/>
        </p:nvSpPr>
        <p:spPr>
          <a:xfrm>
            <a:off x="3255264" y="1737360"/>
            <a:ext cx="1280160" cy="18288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p&lt;0.001</a:t>
            </a:r>
            <a:endParaRPr lang="en-US" sz="1000" dirty="0"/>
          </a:p>
        </p:txBody>
      </p:sp>
      <p:sp>
        <p:nvSpPr>
          <p:cNvPr id="20" name="Text 18"/>
          <p:cNvSpPr/>
          <p:nvPr/>
        </p:nvSpPr>
        <p:spPr>
          <a:xfrm>
            <a:off x="3255264" y="1993392"/>
            <a:ext cx="2651760" cy="777240"/>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Annual contracts → 76% lower churn odds </a:t>
            </a:r>
            <a:r>
              <a:rPr lang="en-US" altLang="zh-CN" sz="1100" dirty="0">
                <a:solidFill>
                  <a:srgbClr val="1A1A2E"/>
                </a:solidFill>
                <a:latin typeface="Calibri" pitchFamily="34" charset="0"/>
                <a:ea typeface="Calibri" pitchFamily="34" charset="-122"/>
                <a:cs typeface="Calibri" pitchFamily="34" charset="-120"/>
              </a:rPr>
              <a:t>compared to</a:t>
            </a:r>
            <a:r>
              <a:rPr lang="en-US" sz="1100" dirty="0">
                <a:solidFill>
                  <a:srgbClr val="1A1A2E"/>
                </a:solidFill>
                <a:latin typeface="Calibri" pitchFamily="34" charset="0"/>
                <a:ea typeface="Calibri" pitchFamily="34" charset="-122"/>
                <a:cs typeface="Calibri" pitchFamily="34" charset="-120"/>
              </a:rPr>
              <a:t> monthly </a:t>
            </a:r>
            <a:r>
              <a:rPr lang="en-US" altLang="zh-CN" sz="1100" dirty="0">
                <a:solidFill>
                  <a:srgbClr val="1A1A2E"/>
                </a:solidFill>
                <a:latin typeface="Calibri" pitchFamily="34" charset="0"/>
                <a:ea typeface="Calibri" pitchFamily="34" charset="-122"/>
                <a:cs typeface="Calibri" pitchFamily="34" charset="-120"/>
              </a:rPr>
              <a:t>contracts</a:t>
            </a:r>
            <a:endParaRPr lang="en-US" sz="1100" dirty="0"/>
          </a:p>
        </p:txBody>
      </p:sp>
      <p:sp>
        <p:nvSpPr>
          <p:cNvPr id="21" name="Shape 19"/>
          <p:cNvSpPr/>
          <p:nvPr/>
        </p:nvSpPr>
        <p:spPr>
          <a:xfrm>
            <a:off x="6163056" y="1188720"/>
            <a:ext cx="283464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22" name="Shape 20"/>
          <p:cNvSpPr/>
          <p:nvPr/>
        </p:nvSpPr>
        <p:spPr>
          <a:xfrm>
            <a:off x="6163056" y="1188720"/>
            <a:ext cx="2834640" cy="292608"/>
          </a:xfrm>
          <a:prstGeom prst="rect">
            <a:avLst/>
          </a:prstGeom>
          <a:solidFill>
            <a:srgbClr val="E84A5F"/>
          </a:solidFill>
          <a:ln/>
        </p:spPr>
        <p:txBody>
          <a:bodyPr/>
          <a:lstStyle/>
          <a:p>
            <a:endParaRPr lang="en-GB"/>
          </a:p>
        </p:txBody>
      </p:sp>
      <p:sp>
        <p:nvSpPr>
          <p:cNvPr id="23" name="Text 21"/>
          <p:cNvSpPr/>
          <p:nvPr/>
        </p:nvSpPr>
        <p:spPr>
          <a:xfrm>
            <a:off x="6236208" y="1225296"/>
            <a:ext cx="2688336"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Support Tickets</a:t>
            </a:r>
            <a:endParaRPr lang="en-US" sz="1200" dirty="0"/>
          </a:p>
        </p:txBody>
      </p:sp>
      <p:sp>
        <p:nvSpPr>
          <p:cNvPr id="24" name="Shape 22"/>
          <p:cNvSpPr/>
          <p:nvPr/>
        </p:nvSpPr>
        <p:spPr>
          <a:xfrm>
            <a:off x="8266176" y="1536192"/>
            <a:ext cx="640080" cy="384048"/>
          </a:xfrm>
          <a:prstGeom prst="rect">
            <a:avLst/>
          </a:prstGeom>
          <a:solidFill>
            <a:srgbClr val="E84A5F">
              <a:alpha val="85000"/>
            </a:srgbClr>
          </a:solidFill>
          <a:ln w="12700">
            <a:solidFill>
              <a:srgbClr val="E84A5F"/>
            </a:solidFill>
            <a:prstDash val="solid"/>
          </a:ln>
        </p:spPr>
        <p:txBody>
          <a:bodyPr/>
          <a:lstStyle/>
          <a:p>
            <a:endParaRPr lang="en-GB"/>
          </a:p>
        </p:txBody>
      </p:sp>
      <p:sp>
        <p:nvSpPr>
          <p:cNvPr id="25" name="Text 23"/>
          <p:cNvSpPr/>
          <p:nvPr/>
        </p:nvSpPr>
        <p:spPr>
          <a:xfrm>
            <a:off x="8266176" y="1536192"/>
            <a:ext cx="640080" cy="38404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OR</a:t>
            </a:r>
            <a:endParaRPr lang="en-US" sz="900" dirty="0">
              <a:solidFill>
                <a:schemeClr val="bg1"/>
              </a:solidFill>
            </a:endParaRPr>
          </a:p>
          <a:p>
            <a:pPr marL="0" indent="0" algn="ctr">
              <a:buNone/>
            </a:pPr>
            <a:r>
              <a:rPr lang="en-US" sz="900" b="1" dirty="0">
                <a:solidFill>
                  <a:schemeClr val="bg1"/>
                </a:solidFill>
                <a:latin typeface="Calibri" pitchFamily="34" charset="0"/>
                <a:ea typeface="Calibri" pitchFamily="34" charset="-122"/>
                <a:cs typeface="Calibri" pitchFamily="34" charset="-120"/>
              </a:rPr>
              <a:t>1.92</a:t>
            </a:r>
            <a:endParaRPr lang="en-US" sz="900" dirty="0">
              <a:solidFill>
                <a:schemeClr val="bg1"/>
              </a:solidFill>
            </a:endParaRPr>
          </a:p>
        </p:txBody>
      </p:sp>
      <p:sp>
        <p:nvSpPr>
          <p:cNvPr id="26" name="Text 24"/>
          <p:cNvSpPr/>
          <p:nvPr/>
        </p:nvSpPr>
        <p:spPr>
          <a:xfrm>
            <a:off x="6254496" y="1536192"/>
            <a:ext cx="1371600" cy="201168"/>
          </a:xfrm>
          <a:prstGeom prst="rect">
            <a:avLst/>
          </a:prstGeom>
          <a:noFill/>
          <a:ln/>
        </p:spPr>
        <p:txBody>
          <a:bodyPr wrap="square" lIns="0" tIns="0" rIns="0" bIns="0" rtlCol="0" anchor="ctr"/>
          <a:lstStyle/>
          <a:p>
            <a:pPr marL="0" indent="0">
              <a:buNone/>
            </a:pPr>
            <a:r>
              <a:rPr lang="en-US" sz="1100" b="1" dirty="0">
                <a:solidFill>
                  <a:srgbClr val="E84A5F"/>
                </a:solidFill>
                <a:latin typeface="Calibri" pitchFamily="34" charset="0"/>
                <a:ea typeface="Calibri" pitchFamily="34" charset="-122"/>
                <a:cs typeface="Calibri" pitchFamily="34" charset="-120"/>
              </a:rPr>
              <a:t>Coef: +0.65</a:t>
            </a:r>
            <a:endParaRPr lang="en-US" sz="1100" dirty="0"/>
          </a:p>
        </p:txBody>
      </p:sp>
      <p:sp>
        <p:nvSpPr>
          <p:cNvPr id="27" name="Text 25"/>
          <p:cNvSpPr/>
          <p:nvPr/>
        </p:nvSpPr>
        <p:spPr>
          <a:xfrm>
            <a:off x="6254496" y="1737360"/>
            <a:ext cx="1280160" cy="18288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p&lt;0.001</a:t>
            </a:r>
            <a:endParaRPr lang="en-US" sz="1000" dirty="0"/>
          </a:p>
        </p:txBody>
      </p:sp>
      <p:sp>
        <p:nvSpPr>
          <p:cNvPr id="28" name="Text 26"/>
          <p:cNvSpPr/>
          <p:nvPr/>
        </p:nvSpPr>
        <p:spPr>
          <a:xfrm>
            <a:off x="6254496" y="1993392"/>
            <a:ext cx="2651760" cy="777240"/>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Each extra ticket nearly doubles churn odds (+92%)</a:t>
            </a:r>
            <a:endParaRPr lang="en-US" sz="1100" dirty="0"/>
          </a:p>
        </p:txBody>
      </p:sp>
      <p:sp>
        <p:nvSpPr>
          <p:cNvPr id="29" name="Shape 27"/>
          <p:cNvSpPr/>
          <p:nvPr/>
        </p:nvSpPr>
        <p:spPr>
          <a:xfrm>
            <a:off x="1463040" y="3017520"/>
            <a:ext cx="283464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30" name="Shape 28"/>
          <p:cNvSpPr/>
          <p:nvPr/>
        </p:nvSpPr>
        <p:spPr>
          <a:xfrm>
            <a:off x="1463040" y="3017520"/>
            <a:ext cx="2834640" cy="292608"/>
          </a:xfrm>
          <a:prstGeom prst="rect">
            <a:avLst/>
          </a:prstGeom>
          <a:solidFill>
            <a:srgbClr val="D97706"/>
          </a:solidFill>
          <a:ln/>
        </p:spPr>
        <p:txBody>
          <a:bodyPr/>
          <a:lstStyle/>
          <a:p>
            <a:endParaRPr lang="en-GB"/>
          </a:p>
        </p:txBody>
      </p:sp>
      <p:sp>
        <p:nvSpPr>
          <p:cNvPr id="31" name="Text 29"/>
          <p:cNvSpPr/>
          <p:nvPr/>
        </p:nvSpPr>
        <p:spPr>
          <a:xfrm>
            <a:off x="1536192" y="3054096"/>
            <a:ext cx="2688336"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Days Since Login</a:t>
            </a:r>
            <a:endParaRPr lang="en-US" sz="1200" dirty="0"/>
          </a:p>
        </p:txBody>
      </p:sp>
      <p:sp>
        <p:nvSpPr>
          <p:cNvPr id="32" name="Shape 30"/>
          <p:cNvSpPr/>
          <p:nvPr/>
        </p:nvSpPr>
        <p:spPr>
          <a:xfrm>
            <a:off x="3566160" y="3364992"/>
            <a:ext cx="640080" cy="384048"/>
          </a:xfrm>
          <a:prstGeom prst="rect">
            <a:avLst/>
          </a:prstGeom>
          <a:solidFill>
            <a:srgbClr val="D97706">
              <a:alpha val="85000"/>
            </a:srgbClr>
          </a:solidFill>
          <a:ln w="12700">
            <a:solidFill>
              <a:srgbClr val="D97706"/>
            </a:solidFill>
            <a:prstDash val="solid"/>
          </a:ln>
        </p:spPr>
        <p:txBody>
          <a:bodyPr/>
          <a:lstStyle/>
          <a:p>
            <a:endParaRPr lang="en-GB"/>
          </a:p>
        </p:txBody>
      </p:sp>
      <p:sp>
        <p:nvSpPr>
          <p:cNvPr id="33" name="Text 31"/>
          <p:cNvSpPr/>
          <p:nvPr/>
        </p:nvSpPr>
        <p:spPr>
          <a:xfrm>
            <a:off x="3566160" y="3364992"/>
            <a:ext cx="640080" cy="38404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OR</a:t>
            </a:r>
            <a:endParaRPr lang="en-US" sz="900" dirty="0">
              <a:solidFill>
                <a:schemeClr val="bg1"/>
              </a:solidFill>
            </a:endParaRPr>
          </a:p>
          <a:p>
            <a:pPr marL="0" indent="0" algn="ctr">
              <a:buNone/>
            </a:pPr>
            <a:r>
              <a:rPr lang="en-US" sz="900" b="1" dirty="0">
                <a:solidFill>
                  <a:schemeClr val="bg1"/>
                </a:solidFill>
                <a:latin typeface="Calibri" pitchFamily="34" charset="0"/>
                <a:ea typeface="Calibri" pitchFamily="34" charset="-122"/>
                <a:cs typeface="Calibri" pitchFamily="34" charset="-120"/>
              </a:rPr>
              <a:t>1.10</a:t>
            </a:r>
            <a:endParaRPr lang="en-US" sz="900" dirty="0">
              <a:solidFill>
                <a:schemeClr val="bg1"/>
              </a:solidFill>
            </a:endParaRPr>
          </a:p>
        </p:txBody>
      </p:sp>
      <p:sp>
        <p:nvSpPr>
          <p:cNvPr id="34" name="Text 32"/>
          <p:cNvSpPr/>
          <p:nvPr/>
        </p:nvSpPr>
        <p:spPr>
          <a:xfrm>
            <a:off x="1554480" y="3364992"/>
            <a:ext cx="1371600" cy="201168"/>
          </a:xfrm>
          <a:prstGeom prst="rect">
            <a:avLst/>
          </a:prstGeom>
          <a:noFill/>
          <a:ln/>
        </p:spPr>
        <p:txBody>
          <a:bodyPr wrap="square" lIns="0" tIns="0" rIns="0" bIns="0"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Coef: +0.09</a:t>
            </a:r>
            <a:endParaRPr lang="en-US" sz="1100" dirty="0"/>
          </a:p>
        </p:txBody>
      </p:sp>
      <p:sp>
        <p:nvSpPr>
          <p:cNvPr id="35" name="Text 33"/>
          <p:cNvSpPr/>
          <p:nvPr/>
        </p:nvSpPr>
        <p:spPr>
          <a:xfrm>
            <a:off x="1554480" y="3566160"/>
            <a:ext cx="1280160" cy="18288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p&lt;0.001</a:t>
            </a:r>
            <a:endParaRPr lang="en-US" sz="1000" dirty="0"/>
          </a:p>
        </p:txBody>
      </p:sp>
      <p:sp>
        <p:nvSpPr>
          <p:cNvPr id="36" name="Text 34"/>
          <p:cNvSpPr/>
          <p:nvPr/>
        </p:nvSpPr>
        <p:spPr>
          <a:xfrm>
            <a:off x="1554480" y="3822192"/>
            <a:ext cx="2651760" cy="777240"/>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Each inactive day increases churn odds by 10%</a:t>
            </a:r>
            <a:endParaRPr lang="en-US" sz="1100" dirty="0"/>
          </a:p>
        </p:txBody>
      </p:sp>
      <p:sp>
        <p:nvSpPr>
          <p:cNvPr id="37" name="Shape 35"/>
          <p:cNvSpPr/>
          <p:nvPr/>
        </p:nvSpPr>
        <p:spPr>
          <a:xfrm>
            <a:off x="4462272" y="3017520"/>
            <a:ext cx="283464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38" name="Shape 36"/>
          <p:cNvSpPr/>
          <p:nvPr/>
        </p:nvSpPr>
        <p:spPr>
          <a:xfrm>
            <a:off x="4462272" y="3017520"/>
            <a:ext cx="2834640" cy="292608"/>
          </a:xfrm>
          <a:prstGeom prst="rect">
            <a:avLst/>
          </a:prstGeom>
          <a:solidFill>
            <a:srgbClr val="028090"/>
          </a:solidFill>
          <a:ln/>
        </p:spPr>
        <p:txBody>
          <a:bodyPr/>
          <a:lstStyle/>
          <a:p>
            <a:endParaRPr lang="en-GB"/>
          </a:p>
        </p:txBody>
      </p:sp>
      <p:sp>
        <p:nvSpPr>
          <p:cNvPr id="39" name="Text 37"/>
          <p:cNvSpPr/>
          <p:nvPr/>
        </p:nvSpPr>
        <p:spPr>
          <a:xfrm>
            <a:off x="4535424" y="3054096"/>
            <a:ext cx="2688336"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Tenure (months)</a:t>
            </a:r>
            <a:endParaRPr lang="en-US" sz="1200" dirty="0"/>
          </a:p>
        </p:txBody>
      </p:sp>
      <p:sp>
        <p:nvSpPr>
          <p:cNvPr id="40" name="Shape 38"/>
          <p:cNvSpPr/>
          <p:nvPr/>
        </p:nvSpPr>
        <p:spPr>
          <a:xfrm>
            <a:off x="6565392" y="3364992"/>
            <a:ext cx="640080" cy="384048"/>
          </a:xfrm>
          <a:prstGeom prst="rect">
            <a:avLst/>
          </a:prstGeom>
          <a:solidFill>
            <a:srgbClr val="028090">
              <a:alpha val="85000"/>
            </a:srgbClr>
          </a:solidFill>
          <a:ln w="12700">
            <a:solidFill>
              <a:srgbClr val="028090"/>
            </a:solidFill>
            <a:prstDash val="solid"/>
          </a:ln>
        </p:spPr>
        <p:txBody>
          <a:bodyPr/>
          <a:lstStyle/>
          <a:p>
            <a:endParaRPr lang="en-GB"/>
          </a:p>
        </p:txBody>
      </p:sp>
      <p:sp>
        <p:nvSpPr>
          <p:cNvPr id="41" name="Text 39"/>
          <p:cNvSpPr/>
          <p:nvPr/>
        </p:nvSpPr>
        <p:spPr>
          <a:xfrm>
            <a:off x="6565392" y="3364992"/>
            <a:ext cx="640080" cy="38404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OR</a:t>
            </a:r>
            <a:endParaRPr lang="en-US" sz="900" dirty="0">
              <a:solidFill>
                <a:schemeClr val="bg1"/>
              </a:solidFill>
            </a:endParaRPr>
          </a:p>
          <a:p>
            <a:pPr marL="0" indent="0" algn="ctr">
              <a:buNone/>
            </a:pPr>
            <a:r>
              <a:rPr lang="en-US" sz="900" b="1" dirty="0">
                <a:solidFill>
                  <a:schemeClr val="bg1"/>
                </a:solidFill>
                <a:latin typeface="Calibri" pitchFamily="34" charset="0"/>
                <a:ea typeface="Calibri" pitchFamily="34" charset="-122"/>
                <a:cs typeface="Calibri" pitchFamily="34" charset="-120"/>
              </a:rPr>
              <a:t>0.95</a:t>
            </a:r>
            <a:endParaRPr lang="en-US" sz="900" dirty="0">
              <a:solidFill>
                <a:schemeClr val="bg1"/>
              </a:solidFill>
            </a:endParaRPr>
          </a:p>
        </p:txBody>
      </p:sp>
      <p:sp>
        <p:nvSpPr>
          <p:cNvPr id="42" name="Text 40"/>
          <p:cNvSpPr/>
          <p:nvPr/>
        </p:nvSpPr>
        <p:spPr>
          <a:xfrm>
            <a:off x="4553712" y="3364992"/>
            <a:ext cx="1371600" cy="201168"/>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Coef: -0.05</a:t>
            </a:r>
            <a:endParaRPr lang="en-US" sz="1100" dirty="0"/>
          </a:p>
        </p:txBody>
      </p:sp>
      <p:sp>
        <p:nvSpPr>
          <p:cNvPr id="43" name="Text 41"/>
          <p:cNvSpPr/>
          <p:nvPr/>
        </p:nvSpPr>
        <p:spPr>
          <a:xfrm>
            <a:off x="4553712" y="3566160"/>
            <a:ext cx="1280160" cy="18288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p&lt;0.001</a:t>
            </a:r>
            <a:endParaRPr lang="en-US" sz="1000" dirty="0"/>
          </a:p>
        </p:txBody>
      </p:sp>
      <p:sp>
        <p:nvSpPr>
          <p:cNvPr id="44" name="Text 42"/>
          <p:cNvSpPr/>
          <p:nvPr/>
        </p:nvSpPr>
        <p:spPr>
          <a:xfrm>
            <a:off x="4553712" y="3822192"/>
            <a:ext cx="2651760" cy="777240"/>
          </a:xfrm>
          <a:prstGeom prst="rect">
            <a:avLst/>
          </a:prstGeom>
          <a:noFill/>
          <a:ln/>
        </p:spPr>
        <p:txBody>
          <a:bodyPr wrap="square" lIns="0" tIns="0" rIns="0" bIns="0" rtlCol="0" anchor="t"/>
          <a:lstStyle/>
          <a:p>
            <a:pPr marL="0" indent="0">
              <a:buNone/>
            </a:pPr>
            <a:r>
              <a:rPr lang="en-US" sz="1100" dirty="0">
                <a:solidFill>
                  <a:srgbClr val="1A1A2E"/>
                </a:solidFill>
                <a:latin typeface="Calibri" pitchFamily="34" charset="0"/>
                <a:ea typeface="Calibri" pitchFamily="34" charset="-122"/>
                <a:cs typeface="Calibri" pitchFamily="34" charset="-120"/>
              </a:rPr>
              <a:t>Every extra month reduces churn odds by 5%</a:t>
            </a:r>
            <a:endParaRPr lang="en-US" sz="1100" dirty="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481171D-165B-9721-53C0-D45C8CF0A60B}"/>
                  </a:ext>
                </a:extLst>
              </p:cNvPr>
              <p:cNvSpPr txBox="1"/>
              <p:nvPr/>
            </p:nvSpPr>
            <p:spPr>
              <a:xfrm>
                <a:off x="4430537" y="4791456"/>
                <a:ext cx="3835639" cy="359714"/>
              </a:xfrm>
              <a:prstGeom prst="rect">
                <a:avLst/>
              </a:prstGeom>
              <a:noFill/>
            </p:spPr>
            <p:txBody>
              <a:bodyPr wrap="square" rtlCol="0">
                <a:spAutoFit/>
              </a:bodyPr>
              <a:lstStyle/>
              <a:p>
                <a:r>
                  <a:rPr lang="en-US" altLang="zh-CN" sz="1200" dirty="0"/>
                  <a:t>Note</a:t>
                </a:r>
                <a:r>
                  <a:rPr lang="zh-CN" altLang="en-US" sz="1200" dirty="0"/>
                  <a:t>：</a:t>
                </a:r>
                <a:r>
                  <a:rPr lang="en-GB" sz="1200" dirty="0"/>
                  <a:t>OR is </a:t>
                </a:r>
                <a:r>
                  <a:rPr lang="en-US" altLang="zh-CN" sz="1200" dirty="0"/>
                  <a:t>odd ratio=</a:t>
                </a:r>
                <a14:m>
                  <m:oMath xmlns:m="http://schemas.openxmlformats.org/officeDocument/2006/math">
                    <m:f>
                      <m:fPr>
                        <m:ctrlPr>
                          <a:rPr lang="en-US" altLang="zh-CN" sz="1200" i="1" smtClean="0">
                            <a:latin typeface="Cambria Math" panose="02040503050406030204" pitchFamily="18" charset="0"/>
                          </a:rPr>
                        </m:ctrlPr>
                      </m:fPr>
                      <m:num>
                        <m:r>
                          <a:rPr lang="en-GB" altLang="zh-CN" sz="1200" b="0" i="1" smtClean="0">
                            <a:latin typeface="Cambria Math" panose="02040503050406030204" pitchFamily="18" charset="0"/>
                          </a:rPr>
                          <m:t>𝑝</m:t>
                        </m:r>
                      </m:num>
                      <m:den>
                        <m:r>
                          <a:rPr lang="en-GB" altLang="zh-CN" sz="1200" b="0" i="1" smtClean="0">
                            <a:latin typeface="Cambria Math" panose="02040503050406030204" pitchFamily="18" charset="0"/>
                          </a:rPr>
                          <m:t>1−</m:t>
                        </m:r>
                        <m:r>
                          <a:rPr lang="en-GB" altLang="zh-CN" sz="1200" b="0" i="1" smtClean="0">
                            <a:latin typeface="Cambria Math" panose="02040503050406030204" pitchFamily="18" charset="0"/>
                          </a:rPr>
                          <m:t>𝑝</m:t>
                        </m:r>
                      </m:den>
                    </m:f>
                    <m:r>
                      <a:rPr lang="en-GB" altLang="zh-CN" sz="1200" b="0" i="1" smtClean="0">
                        <a:latin typeface="Cambria Math" panose="02040503050406030204" pitchFamily="18" charset="0"/>
                      </a:rPr>
                      <m:t>, </m:t>
                    </m:r>
                    <m:r>
                      <a:rPr lang="en-GB" altLang="zh-CN" sz="1200" b="0" i="1" smtClean="0">
                        <a:latin typeface="Cambria Math" panose="02040503050406030204" pitchFamily="18" charset="0"/>
                      </a:rPr>
                      <m:t>𝑝</m:t>
                    </m:r>
                    <m:r>
                      <a:rPr lang="en-GB" altLang="zh-CN" sz="1200" b="0" i="1" smtClean="0">
                        <a:latin typeface="Cambria Math" panose="02040503050406030204" pitchFamily="18" charset="0"/>
                      </a:rPr>
                      <m:t> </m:t>
                    </m:r>
                    <m:r>
                      <a:rPr lang="en-GB" altLang="zh-CN" sz="1200" b="0" i="1" smtClean="0">
                        <a:latin typeface="Cambria Math" panose="02040503050406030204" pitchFamily="18" charset="0"/>
                      </a:rPr>
                      <m:t>𝑖𝑠</m:t>
                    </m:r>
                    <m:r>
                      <a:rPr lang="en-GB" altLang="zh-CN" sz="1200" b="0" i="1" smtClean="0">
                        <a:latin typeface="Cambria Math" panose="02040503050406030204" pitchFamily="18" charset="0"/>
                      </a:rPr>
                      <m:t> </m:t>
                    </m:r>
                    <m:r>
                      <a:rPr lang="en-GB" altLang="zh-CN" sz="1200" b="0" i="1" smtClean="0">
                        <a:latin typeface="Cambria Math" panose="02040503050406030204" pitchFamily="18" charset="0"/>
                      </a:rPr>
                      <m:t>𝑡h𝑒</m:t>
                    </m:r>
                    <m:r>
                      <a:rPr lang="en-GB" altLang="zh-CN" sz="1200" b="0" i="1" smtClean="0">
                        <a:latin typeface="Cambria Math" panose="02040503050406030204" pitchFamily="18" charset="0"/>
                      </a:rPr>
                      <m:t> </m:t>
                    </m:r>
                    <m:r>
                      <a:rPr lang="en-GB" altLang="zh-CN" sz="1200" b="0" i="1" smtClean="0">
                        <a:latin typeface="Cambria Math" panose="02040503050406030204" pitchFamily="18" charset="0"/>
                      </a:rPr>
                      <m:t>𝑝𝑟𝑜𝑏𝑎𝑙𝑖𝑡𝑦</m:t>
                    </m:r>
                    <m:r>
                      <a:rPr lang="en-GB" altLang="zh-CN" sz="1200" b="0" i="1" smtClean="0">
                        <a:latin typeface="Cambria Math" panose="02040503050406030204" pitchFamily="18" charset="0"/>
                      </a:rPr>
                      <m:t> </m:t>
                    </m:r>
                    <m:r>
                      <a:rPr lang="en-GB" altLang="zh-CN" sz="1200" b="0" i="1" smtClean="0">
                        <a:latin typeface="Cambria Math" panose="02040503050406030204" pitchFamily="18" charset="0"/>
                      </a:rPr>
                      <m:t>𝑜𝑓</m:t>
                    </m:r>
                    <m:r>
                      <a:rPr lang="en-GB" altLang="zh-CN" sz="1200" b="0" i="1" smtClean="0">
                        <a:latin typeface="Cambria Math" panose="02040503050406030204" pitchFamily="18" charset="0"/>
                      </a:rPr>
                      <m:t> </m:t>
                    </m:r>
                    <m:r>
                      <a:rPr lang="en-GB" altLang="zh-CN" sz="1200" b="0" i="1" smtClean="0">
                        <a:latin typeface="Cambria Math" panose="02040503050406030204" pitchFamily="18" charset="0"/>
                      </a:rPr>
                      <m:t>𝑐h𝑢𝑟𝑛</m:t>
                    </m:r>
                  </m:oMath>
                </a14:m>
                <a:endParaRPr lang="en-GB" sz="1200" dirty="0"/>
              </a:p>
            </p:txBody>
          </p:sp>
        </mc:Choice>
        <mc:Fallback xmlns="">
          <p:sp>
            <p:nvSpPr>
              <p:cNvPr id="45" name="TextBox 44">
                <a:extLst>
                  <a:ext uri="{FF2B5EF4-FFF2-40B4-BE49-F238E27FC236}">
                    <a16:creationId xmlns:a16="http://schemas.microsoft.com/office/drawing/2014/main" id="{3481171D-165B-9721-53C0-D45C8CF0A60B}"/>
                  </a:ext>
                </a:extLst>
              </p:cNvPr>
              <p:cNvSpPr txBox="1">
                <a:spLocks noRot="1" noChangeAspect="1" noMove="1" noResize="1" noEditPoints="1" noAdjustHandles="1" noChangeArrowheads="1" noChangeShapeType="1" noTextEdit="1"/>
              </p:cNvSpPr>
              <p:nvPr/>
            </p:nvSpPr>
            <p:spPr>
              <a:xfrm>
                <a:off x="4430537" y="4791456"/>
                <a:ext cx="3835639" cy="359714"/>
              </a:xfrm>
              <a:prstGeom prst="rect">
                <a:avLst/>
              </a:prstGeom>
              <a:blipFill>
                <a:blip r:embed="rId3"/>
                <a:stretch>
                  <a:fillRect l="-159"/>
                </a:stretch>
              </a:blipFill>
            </p:spPr>
            <p:txBody>
              <a:bodyPr/>
              <a:lstStyle/>
              <a:p>
                <a:r>
                  <a:rPr lang="en-GB">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228600" y="137160"/>
            <a:ext cx="1371600" cy="777240"/>
          </a:xfrm>
          <a:prstGeom prst="rect">
            <a:avLst/>
          </a:prstGeom>
          <a:noFill/>
          <a:ln/>
        </p:spPr>
        <p:txBody>
          <a:bodyPr wrap="square" lIns="0" tIns="0" rIns="0" bIns="0" rtlCol="0" anchor="ctr"/>
          <a:lstStyle/>
          <a:p>
            <a:pPr marL="0" indent="0">
              <a:buNone/>
            </a:pPr>
            <a:r>
              <a:rPr lang="en-US" sz="1400" b="1" dirty="0">
                <a:solidFill>
                  <a:srgbClr val="E84A5F"/>
                </a:solidFill>
                <a:latin typeface="Calibri" pitchFamily="34" charset="0"/>
                <a:ea typeface="Calibri" pitchFamily="34" charset="-122"/>
                <a:cs typeface="Calibri" pitchFamily="34" charset="-120"/>
              </a:rPr>
              <a:t>Finding 1</a:t>
            </a:r>
            <a:endParaRPr lang="en-US" sz="1400" dirty="0"/>
          </a:p>
        </p:txBody>
      </p:sp>
      <p:sp>
        <p:nvSpPr>
          <p:cNvPr id="4" name="Text 2"/>
          <p:cNvSpPr/>
          <p:nvPr/>
        </p:nvSpPr>
        <p:spPr>
          <a:xfrm>
            <a:off x="1554480" y="137160"/>
            <a:ext cx="7132320" cy="7772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Satisfaction is the Master Variable of Churn</a:t>
            </a:r>
            <a:endParaRPr lang="en-US" sz="2600" dirty="0"/>
          </a:p>
        </p:txBody>
      </p:sp>
      <p:pic>
        <p:nvPicPr>
          <p:cNvPr id="5" name="Image 0" descr="preencoded.png"/>
          <p:cNvPicPr>
            <a:picLocks noChangeAspect="1"/>
          </p:cNvPicPr>
          <p:nvPr/>
        </p:nvPicPr>
        <p:blipFill>
          <a:blip r:embed="rId3"/>
          <a:stretch>
            <a:fillRect/>
          </a:stretch>
        </p:blipFill>
        <p:spPr>
          <a:xfrm>
            <a:off x="228600" y="1051560"/>
            <a:ext cx="5029200" cy="3291840"/>
          </a:xfrm>
          <a:prstGeom prst="rect">
            <a:avLst/>
          </a:prstGeom>
        </p:spPr>
      </p:pic>
      <p:sp>
        <p:nvSpPr>
          <p:cNvPr id="6" name="Shape 3"/>
          <p:cNvSpPr/>
          <p:nvPr/>
        </p:nvSpPr>
        <p:spPr>
          <a:xfrm>
            <a:off x="5486400" y="1097280"/>
            <a:ext cx="3383280" cy="32004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7" name="Shape 4"/>
          <p:cNvSpPr/>
          <p:nvPr/>
        </p:nvSpPr>
        <p:spPr>
          <a:xfrm>
            <a:off x="5486400" y="1097280"/>
            <a:ext cx="3383280" cy="411480"/>
          </a:xfrm>
          <a:prstGeom prst="rect">
            <a:avLst/>
          </a:prstGeom>
          <a:solidFill>
            <a:srgbClr val="1C4B82"/>
          </a:solidFill>
          <a:ln/>
        </p:spPr>
        <p:txBody>
          <a:bodyPr/>
          <a:lstStyle/>
          <a:p>
            <a:endParaRPr lang="en-GB"/>
          </a:p>
        </p:txBody>
      </p:sp>
      <p:sp>
        <p:nvSpPr>
          <p:cNvPr id="8" name="Text 5"/>
          <p:cNvSpPr/>
          <p:nvPr/>
        </p:nvSpPr>
        <p:spPr>
          <a:xfrm>
            <a:off x="5577840" y="1115568"/>
            <a:ext cx="32004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Key Takeaways</a:t>
            </a:r>
            <a:endParaRPr lang="en-US" sz="1300" dirty="0"/>
          </a:p>
        </p:txBody>
      </p:sp>
      <p:sp>
        <p:nvSpPr>
          <p:cNvPr id="9" name="Text 6"/>
          <p:cNvSpPr/>
          <p:nvPr/>
        </p:nvSpPr>
        <p:spPr>
          <a:xfrm>
            <a:off x="5623560" y="1627632"/>
            <a:ext cx="3108960" cy="347472"/>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Score 1:  ~80% churn rate</a:t>
            </a:r>
            <a:endParaRPr lang="en-US" sz="1200" dirty="0"/>
          </a:p>
        </p:txBody>
      </p:sp>
      <p:sp>
        <p:nvSpPr>
          <p:cNvPr id="10" name="Shape 7"/>
          <p:cNvSpPr/>
          <p:nvPr/>
        </p:nvSpPr>
        <p:spPr>
          <a:xfrm>
            <a:off x="5623560" y="1901952"/>
            <a:ext cx="3017520" cy="27432"/>
          </a:xfrm>
          <a:prstGeom prst="rect">
            <a:avLst/>
          </a:prstGeom>
          <a:solidFill>
            <a:srgbClr val="CBD5E1"/>
          </a:solidFill>
          <a:ln/>
        </p:spPr>
        <p:txBody>
          <a:bodyPr/>
          <a:lstStyle/>
          <a:p>
            <a:endParaRPr lang="en-GB"/>
          </a:p>
        </p:txBody>
      </p:sp>
      <p:sp>
        <p:nvSpPr>
          <p:cNvPr id="11" name="Text 8"/>
          <p:cNvSpPr/>
          <p:nvPr/>
        </p:nvSpPr>
        <p:spPr>
          <a:xfrm>
            <a:off x="5623560" y="2084832"/>
            <a:ext cx="3108960" cy="347472"/>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Score 2:  ~73% churn rate</a:t>
            </a:r>
            <a:endParaRPr lang="en-US" sz="1200" dirty="0"/>
          </a:p>
        </p:txBody>
      </p:sp>
      <p:sp>
        <p:nvSpPr>
          <p:cNvPr id="12" name="Shape 9"/>
          <p:cNvSpPr/>
          <p:nvPr/>
        </p:nvSpPr>
        <p:spPr>
          <a:xfrm>
            <a:off x="5623560" y="2359152"/>
            <a:ext cx="3017520" cy="27432"/>
          </a:xfrm>
          <a:prstGeom prst="rect">
            <a:avLst/>
          </a:prstGeom>
          <a:solidFill>
            <a:srgbClr val="CBD5E1"/>
          </a:solidFill>
          <a:ln/>
        </p:spPr>
        <p:txBody>
          <a:bodyPr/>
          <a:lstStyle/>
          <a:p>
            <a:endParaRPr lang="en-GB"/>
          </a:p>
        </p:txBody>
      </p:sp>
      <p:sp>
        <p:nvSpPr>
          <p:cNvPr id="13" name="Text 10"/>
          <p:cNvSpPr/>
          <p:nvPr/>
        </p:nvSpPr>
        <p:spPr>
          <a:xfrm>
            <a:off x="5623560" y="2542032"/>
            <a:ext cx="3108960" cy="347472"/>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Score 3:  ~39% churn rate</a:t>
            </a:r>
            <a:endParaRPr lang="en-US" sz="1200" dirty="0"/>
          </a:p>
        </p:txBody>
      </p:sp>
      <p:sp>
        <p:nvSpPr>
          <p:cNvPr id="14" name="Shape 11"/>
          <p:cNvSpPr/>
          <p:nvPr/>
        </p:nvSpPr>
        <p:spPr>
          <a:xfrm>
            <a:off x="5623560" y="2816352"/>
            <a:ext cx="3017520" cy="27432"/>
          </a:xfrm>
          <a:prstGeom prst="rect">
            <a:avLst/>
          </a:prstGeom>
          <a:solidFill>
            <a:srgbClr val="CBD5E1"/>
          </a:solidFill>
          <a:ln/>
        </p:spPr>
        <p:txBody>
          <a:bodyPr/>
          <a:lstStyle/>
          <a:p>
            <a:endParaRPr lang="en-GB"/>
          </a:p>
        </p:txBody>
      </p:sp>
      <p:sp>
        <p:nvSpPr>
          <p:cNvPr id="15" name="Text 12"/>
          <p:cNvSpPr/>
          <p:nvPr/>
        </p:nvSpPr>
        <p:spPr>
          <a:xfrm>
            <a:off x="5623560" y="2999232"/>
            <a:ext cx="3108960" cy="347472"/>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Score 4:  ~8% churn rate</a:t>
            </a:r>
            <a:endParaRPr lang="en-US" sz="1200" dirty="0"/>
          </a:p>
        </p:txBody>
      </p:sp>
      <p:sp>
        <p:nvSpPr>
          <p:cNvPr id="16" name="Shape 13"/>
          <p:cNvSpPr/>
          <p:nvPr/>
        </p:nvSpPr>
        <p:spPr>
          <a:xfrm>
            <a:off x="5623560" y="3273552"/>
            <a:ext cx="3017520" cy="27432"/>
          </a:xfrm>
          <a:prstGeom prst="rect">
            <a:avLst/>
          </a:prstGeom>
          <a:solidFill>
            <a:srgbClr val="CBD5E1"/>
          </a:solidFill>
          <a:ln/>
        </p:spPr>
        <p:txBody>
          <a:bodyPr/>
          <a:lstStyle/>
          <a:p>
            <a:endParaRPr lang="en-GB"/>
          </a:p>
        </p:txBody>
      </p:sp>
      <p:sp>
        <p:nvSpPr>
          <p:cNvPr id="17" name="Text 14"/>
          <p:cNvSpPr/>
          <p:nvPr/>
        </p:nvSpPr>
        <p:spPr>
          <a:xfrm>
            <a:off x="5623560" y="3456432"/>
            <a:ext cx="3108960" cy="347472"/>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Score 5:  ~6% churn rate</a:t>
            </a:r>
            <a:endParaRPr lang="en-US" sz="1200" dirty="0"/>
          </a:p>
        </p:txBody>
      </p:sp>
      <p:sp>
        <p:nvSpPr>
          <p:cNvPr id="18" name="Shape 15"/>
          <p:cNvSpPr/>
          <p:nvPr/>
        </p:nvSpPr>
        <p:spPr>
          <a:xfrm>
            <a:off x="5623560" y="3730752"/>
            <a:ext cx="3017520" cy="27432"/>
          </a:xfrm>
          <a:prstGeom prst="rect">
            <a:avLst/>
          </a:prstGeom>
          <a:solidFill>
            <a:srgbClr val="CBD5E1"/>
          </a:solidFill>
          <a:ln/>
        </p:spPr>
        <p:txBody>
          <a:bodyPr/>
          <a:lstStyle/>
          <a:p>
            <a:endParaRPr lang="en-GB"/>
          </a:p>
        </p:txBody>
      </p:sp>
      <p:sp>
        <p:nvSpPr>
          <p:cNvPr id="19" name="Shape 16"/>
          <p:cNvSpPr/>
          <p:nvPr/>
        </p:nvSpPr>
        <p:spPr>
          <a:xfrm>
            <a:off x="274320" y="4434840"/>
            <a:ext cx="8595360" cy="594360"/>
          </a:xfrm>
          <a:prstGeom prst="rect">
            <a:avLst/>
          </a:prstGeom>
          <a:solidFill>
            <a:srgbClr val="1C4B82"/>
          </a:solidFill>
          <a:ln/>
          <a:effectLst>
            <a:outerShdw blurRad="101600" dist="38100" dir="8100000" algn="bl" rotWithShape="0">
              <a:srgbClr val="000000">
                <a:alpha val="12000"/>
              </a:srgbClr>
            </a:outerShdw>
          </a:effectLst>
        </p:spPr>
        <p:txBody>
          <a:bodyPr/>
          <a:lstStyle/>
          <a:p>
            <a:endParaRPr lang="en-GB"/>
          </a:p>
        </p:txBody>
      </p:sp>
      <p:sp>
        <p:nvSpPr>
          <p:cNvPr id="20" name="Text 17"/>
          <p:cNvSpPr/>
          <p:nvPr/>
        </p:nvSpPr>
        <p:spPr>
          <a:xfrm>
            <a:off x="457200" y="4462272"/>
            <a:ext cx="8321040" cy="5029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Regression result: Coef = -1.443, OR = 0.236, p&lt;0.001 — the strongest predictor in the model. Each 1-point increase in satisfaction reduces churn odds by 76.4%.</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228600" y="137160"/>
            <a:ext cx="1645920" cy="777240"/>
          </a:xfrm>
          <a:prstGeom prst="rect">
            <a:avLst/>
          </a:prstGeom>
          <a:noFill/>
          <a:ln/>
        </p:spPr>
        <p:txBody>
          <a:bodyPr wrap="square" lIns="0" tIns="0" rIns="0" bIns="0" rtlCol="0" anchor="ctr"/>
          <a:lstStyle/>
          <a:p>
            <a:pPr marL="0" indent="0">
              <a:buNone/>
            </a:pPr>
            <a:r>
              <a:rPr lang="en-US" sz="1400" b="1" dirty="0">
                <a:solidFill>
                  <a:srgbClr val="E84A5F"/>
                </a:solidFill>
                <a:latin typeface="Calibri" pitchFamily="34" charset="0"/>
                <a:ea typeface="Calibri" pitchFamily="34" charset="-122"/>
                <a:cs typeface="Calibri" pitchFamily="34" charset="-120"/>
              </a:rPr>
              <a:t>Findings 2 &amp; 3</a:t>
            </a:r>
            <a:endParaRPr lang="en-US" sz="1400" dirty="0"/>
          </a:p>
        </p:txBody>
      </p:sp>
      <p:sp>
        <p:nvSpPr>
          <p:cNvPr id="4" name="Text 2"/>
          <p:cNvSpPr/>
          <p:nvPr/>
        </p:nvSpPr>
        <p:spPr>
          <a:xfrm>
            <a:off x="1828800" y="137160"/>
            <a:ext cx="6858000" cy="7772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Contract Type &amp; Support Tickets</a:t>
            </a:r>
            <a:endParaRPr lang="en-US" sz="2600" dirty="0"/>
          </a:p>
        </p:txBody>
      </p:sp>
      <p:sp>
        <p:nvSpPr>
          <p:cNvPr id="5" name="Shape 3"/>
          <p:cNvSpPr/>
          <p:nvPr/>
        </p:nvSpPr>
        <p:spPr>
          <a:xfrm>
            <a:off x="274320" y="1097280"/>
            <a:ext cx="4114800" cy="2194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6" name="Shape 4"/>
          <p:cNvSpPr/>
          <p:nvPr/>
        </p:nvSpPr>
        <p:spPr>
          <a:xfrm>
            <a:off x="274320" y="1097280"/>
            <a:ext cx="4114800" cy="365760"/>
          </a:xfrm>
          <a:prstGeom prst="rect">
            <a:avLst/>
          </a:prstGeom>
          <a:solidFill>
            <a:srgbClr val="2E86AB"/>
          </a:solidFill>
          <a:ln/>
        </p:spPr>
        <p:txBody>
          <a:bodyPr/>
          <a:lstStyle/>
          <a:p>
            <a:endParaRPr lang="en-GB"/>
          </a:p>
        </p:txBody>
      </p:sp>
      <p:sp>
        <p:nvSpPr>
          <p:cNvPr id="7" name="Text 5"/>
          <p:cNvSpPr/>
          <p:nvPr/>
        </p:nvSpPr>
        <p:spPr>
          <a:xfrm>
            <a:off x="365760" y="1115568"/>
            <a:ext cx="393192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Contract Type</a:t>
            </a:r>
            <a:endParaRPr lang="en-US" sz="1300" dirty="0"/>
          </a:p>
        </p:txBody>
      </p:sp>
      <p:sp>
        <p:nvSpPr>
          <p:cNvPr id="8" name="Text 6"/>
          <p:cNvSpPr/>
          <p:nvPr/>
        </p:nvSpPr>
        <p:spPr>
          <a:xfrm>
            <a:off x="457200" y="1572768"/>
            <a:ext cx="18288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monthly subscribers</a:t>
            </a:r>
            <a:endParaRPr lang="en-US" sz="1100" dirty="0"/>
          </a:p>
        </p:txBody>
      </p:sp>
      <p:sp>
        <p:nvSpPr>
          <p:cNvPr id="9" name="Text 7"/>
          <p:cNvSpPr/>
          <p:nvPr/>
        </p:nvSpPr>
        <p:spPr>
          <a:xfrm>
            <a:off x="457200" y="1847088"/>
            <a:ext cx="1371600" cy="685800"/>
          </a:xfrm>
          <a:prstGeom prst="rect">
            <a:avLst/>
          </a:prstGeom>
          <a:noFill/>
          <a:ln/>
        </p:spPr>
        <p:txBody>
          <a:bodyPr wrap="square" lIns="0" tIns="0" rIns="0" bIns="0" rtlCol="0" anchor="ctr"/>
          <a:lstStyle/>
          <a:p>
            <a:pPr marL="0" indent="0" algn="ctr">
              <a:buNone/>
            </a:pPr>
            <a:r>
              <a:rPr lang="en-US" sz="2000" b="1" dirty="0">
                <a:solidFill>
                  <a:srgbClr val="E84A5F"/>
                </a:solidFill>
                <a:latin typeface="Calibri" pitchFamily="34" charset="0"/>
                <a:ea typeface="Calibri" pitchFamily="34" charset="-122"/>
                <a:cs typeface="Calibri" pitchFamily="34" charset="-120"/>
              </a:rPr>
              <a:t>~47.7%</a:t>
            </a:r>
            <a:endParaRPr lang="en-US" sz="2000" dirty="0"/>
          </a:p>
          <a:p>
            <a:pPr marL="0" indent="0" algn="ctr">
              <a:buNone/>
            </a:pPr>
            <a:r>
              <a:rPr lang="en-US" sz="2000" b="1" dirty="0">
                <a:solidFill>
                  <a:srgbClr val="E84A5F"/>
                </a:solidFill>
                <a:latin typeface="Calibri" pitchFamily="34" charset="0"/>
                <a:ea typeface="Calibri" pitchFamily="34" charset="-122"/>
                <a:cs typeface="Calibri" pitchFamily="34" charset="-120"/>
              </a:rPr>
              <a:t>churn rate</a:t>
            </a:r>
            <a:endParaRPr lang="en-US" sz="2000" dirty="0"/>
          </a:p>
        </p:txBody>
      </p:sp>
      <p:sp>
        <p:nvSpPr>
          <p:cNvPr id="10" name="Shape 8"/>
          <p:cNvSpPr/>
          <p:nvPr/>
        </p:nvSpPr>
        <p:spPr>
          <a:xfrm>
            <a:off x="2194560" y="1737360"/>
            <a:ext cx="36576" cy="822960"/>
          </a:xfrm>
          <a:prstGeom prst="rect">
            <a:avLst/>
          </a:prstGeom>
          <a:solidFill>
            <a:srgbClr val="CBD5E1"/>
          </a:solidFill>
          <a:ln/>
        </p:spPr>
        <p:txBody>
          <a:bodyPr/>
          <a:lstStyle/>
          <a:p>
            <a:endParaRPr lang="en-GB"/>
          </a:p>
        </p:txBody>
      </p:sp>
      <p:sp>
        <p:nvSpPr>
          <p:cNvPr id="11" name="Text 9"/>
          <p:cNvSpPr/>
          <p:nvPr/>
        </p:nvSpPr>
        <p:spPr>
          <a:xfrm>
            <a:off x="2377440" y="1572768"/>
            <a:ext cx="18288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yearly subscribers</a:t>
            </a:r>
            <a:endParaRPr lang="en-US" sz="1100" dirty="0"/>
          </a:p>
        </p:txBody>
      </p:sp>
      <p:sp>
        <p:nvSpPr>
          <p:cNvPr id="12" name="Text 10"/>
          <p:cNvSpPr/>
          <p:nvPr/>
        </p:nvSpPr>
        <p:spPr>
          <a:xfrm>
            <a:off x="2377440" y="1847088"/>
            <a:ext cx="1371600" cy="685800"/>
          </a:xfrm>
          <a:prstGeom prst="rect">
            <a:avLst/>
          </a:prstGeom>
          <a:noFill/>
          <a:ln/>
        </p:spPr>
        <p:txBody>
          <a:bodyPr wrap="square" lIns="0" tIns="0" rIns="0" bIns="0" rtlCol="0" anchor="ctr"/>
          <a:lstStyle/>
          <a:p>
            <a:pPr marL="0" indent="0" algn="ctr">
              <a:buNone/>
            </a:pPr>
            <a:r>
              <a:rPr lang="en-US" sz="2000" b="1" dirty="0">
                <a:solidFill>
                  <a:srgbClr val="1C7C3D"/>
                </a:solidFill>
                <a:latin typeface="Calibri" pitchFamily="34" charset="0"/>
                <a:ea typeface="Calibri" pitchFamily="34" charset="-122"/>
                <a:cs typeface="Calibri" pitchFamily="34" charset="-120"/>
              </a:rPr>
              <a:t>~19.7%</a:t>
            </a:r>
            <a:endParaRPr lang="en-US" sz="2000" dirty="0"/>
          </a:p>
          <a:p>
            <a:pPr marL="0" indent="0" algn="ctr">
              <a:buNone/>
            </a:pPr>
            <a:r>
              <a:rPr lang="en-US" sz="2000" b="1" dirty="0">
                <a:solidFill>
                  <a:srgbClr val="1C7C3D"/>
                </a:solidFill>
                <a:latin typeface="Calibri" pitchFamily="34" charset="0"/>
                <a:ea typeface="Calibri" pitchFamily="34" charset="-122"/>
                <a:cs typeface="Calibri" pitchFamily="34" charset="-120"/>
              </a:rPr>
              <a:t>churn rate</a:t>
            </a:r>
            <a:endParaRPr lang="en-US" sz="2000" dirty="0"/>
          </a:p>
        </p:txBody>
      </p:sp>
      <p:sp>
        <p:nvSpPr>
          <p:cNvPr id="13" name="Text 11"/>
          <p:cNvSpPr/>
          <p:nvPr/>
        </p:nvSpPr>
        <p:spPr>
          <a:xfrm>
            <a:off x="365760" y="2633472"/>
            <a:ext cx="3749040" cy="320040"/>
          </a:xfrm>
          <a:prstGeom prst="rect">
            <a:avLst/>
          </a:prstGeom>
          <a:noFill/>
          <a:ln/>
        </p:spPr>
        <p:txBody>
          <a:bodyPr wrap="square" lIns="0" tIns="0" rIns="0" bIns="0" rtlCol="0" anchor="ctr"/>
          <a:lstStyle/>
          <a:p>
            <a:pPr algn="ctr"/>
            <a:r>
              <a:rPr lang="en-US" sz="1050" i="1" dirty="0" err="1">
                <a:solidFill>
                  <a:srgbClr val="64748B"/>
                </a:solidFill>
                <a:latin typeface="Calibri" pitchFamily="34" charset="0"/>
                <a:ea typeface="Calibri" pitchFamily="34" charset="-122"/>
                <a:cs typeface="Calibri" pitchFamily="34" charset="-120"/>
              </a:rPr>
              <a:t>Coef</a:t>
            </a:r>
            <a:r>
              <a:rPr lang="en-US" sz="1050" i="1" dirty="0">
                <a:solidFill>
                  <a:srgbClr val="64748B"/>
                </a:solidFill>
                <a:latin typeface="Calibri" pitchFamily="34" charset="0"/>
                <a:ea typeface="Calibri" pitchFamily="34" charset="-122"/>
                <a:cs typeface="Calibri" pitchFamily="34" charset="-120"/>
              </a:rPr>
              <a:t> = -1.421  | OR = 0.241  | p&lt;0.001</a:t>
            </a:r>
            <a:endParaRPr lang="en-US" sz="1050" dirty="0"/>
          </a:p>
        </p:txBody>
      </p:sp>
      <p:sp>
        <p:nvSpPr>
          <p:cNvPr id="14" name="Text 12"/>
          <p:cNvSpPr/>
          <p:nvPr/>
        </p:nvSpPr>
        <p:spPr>
          <a:xfrm>
            <a:off x="365760" y="2944368"/>
            <a:ext cx="3749040" cy="256032"/>
          </a:xfrm>
          <a:prstGeom prst="rect">
            <a:avLst/>
          </a:prstGeom>
          <a:noFill/>
          <a:ln/>
        </p:spPr>
        <p:txBody>
          <a:bodyPr wrap="square" lIns="0" tIns="0" rIns="0" bIns="0" rtlCol="0" anchor="ctr"/>
          <a:lstStyle/>
          <a:p>
            <a:pPr marL="0" indent="0" algn="ctr">
              <a:buNone/>
            </a:pPr>
            <a:r>
              <a:rPr lang="en-US" sz="1100" b="1" dirty="0">
                <a:solidFill>
                  <a:srgbClr val="2E86AB"/>
                </a:solidFill>
                <a:latin typeface="Calibri" pitchFamily="34" charset="0"/>
                <a:ea typeface="Calibri" pitchFamily="34" charset="-122"/>
                <a:cs typeface="Calibri" pitchFamily="34" charset="-120"/>
              </a:rPr>
              <a:t>Annual contracts reduce churn odds by 75.9%</a:t>
            </a:r>
            <a:endParaRPr lang="en-US" sz="1100" dirty="0"/>
          </a:p>
        </p:txBody>
      </p:sp>
      <p:sp>
        <p:nvSpPr>
          <p:cNvPr id="15" name="Shape 13"/>
          <p:cNvSpPr/>
          <p:nvPr/>
        </p:nvSpPr>
        <p:spPr>
          <a:xfrm>
            <a:off x="4754880" y="1097280"/>
            <a:ext cx="4114800" cy="21945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16" name="Shape 14"/>
          <p:cNvSpPr/>
          <p:nvPr/>
        </p:nvSpPr>
        <p:spPr>
          <a:xfrm>
            <a:off x="4754880" y="1097280"/>
            <a:ext cx="4114800" cy="365760"/>
          </a:xfrm>
          <a:prstGeom prst="rect">
            <a:avLst/>
          </a:prstGeom>
          <a:solidFill>
            <a:srgbClr val="E84A5F"/>
          </a:solidFill>
          <a:ln/>
        </p:spPr>
        <p:txBody>
          <a:bodyPr/>
          <a:lstStyle/>
          <a:p>
            <a:endParaRPr lang="en-GB"/>
          </a:p>
        </p:txBody>
      </p:sp>
      <p:sp>
        <p:nvSpPr>
          <p:cNvPr id="17" name="Text 15"/>
          <p:cNvSpPr/>
          <p:nvPr/>
        </p:nvSpPr>
        <p:spPr>
          <a:xfrm>
            <a:off x="4846320" y="1115568"/>
            <a:ext cx="393192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Support Tickets</a:t>
            </a:r>
            <a:endParaRPr lang="en-US" sz="1300" dirty="0"/>
          </a:p>
        </p:txBody>
      </p:sp>
      <p:pic>
        <p:nvPicPr>
          <p:cNvPr id="18" name="Image 0" descr="preencoded.png"/>
          <p:cNvPicPr>
            <a:picLocks noChangeAspect="1"/>
          </p:cNvPicPr>
          <p:nvPr/>
        </p:nvPicPr>
        <p:blipFill>
          <a:blip r:embed="rId3"/>
          <a:stretch>
            <a:fillRect/>
          </a:stretch>
        </p:blipFill>
        <p:spPr>
          <a:xfrm>
            <a:off x="4754880" y="1463040"/>
            <a:ext cx="4114800" cy="1371600"/>
          </a:xfrm>
          <a:prstGeom prst="rect">
            <a:avLst/>
          </a:prstGeom>
        </p:spPr>
      </p:pic>
      <p:sp>
        <p:nvSpPr>
          <p:cNvPr id="19" name="Text 16"/>
          <p:cNvSpPr/>
          <p:nvPr/>
        </p:nvSpPr>
        <p:spPr>
          <a:xfrm>
            <a:off x="4846320" y="2880360"/>
            <a:ext cx="3840480" cy="320040"/>
          </a:xfrm>
          <a:prstGeom prst="rect">
            <a:avLst/>
          </a:prstGeom>
          <a:noFill/>
          <a:ln/>
        </p:spPr>
        <p:txBody>
          <a:bodyPr wrap="square" lIns="0" tIns="0" rIns="0" bIns="0" rtlCol="0" anchor="ctr"/>
          <a:lstStyle/>
          <a:p>
            <a:pPr algn="ctr"/>
            <a:r>
              <a:rPr lang="en-US" sz="1000" i="1" dirty="0" err="1">
                <a:solidFill>
                  <a:srgbClr val="64748B"/>
                </a:solidFill>
                <a:latin typeface="Calibri" pitchFamily="34" charset="0"/>
                <a:ea typeface="Calibri" pitchFamily="34" charset="-122"/>
                <a:cs typeface="Calibri" pitchFamily="34" charset="-120"/>
              </a:rPr>
              <a:t>Coef</a:t>
            </a:r>
            <a:r>
              <a:rPr lang="en-US" sz="1000" i="1" dirty="0">
                <a:solidFill>
                  <a:srgbClr val="64748B"/>
                </a:solidFill>
                <a:latin typeface="Calibri" pitchFamily="34" charset="0"/>
                <a:ea typeface="Calibri" pitchFamily="34" charset="-122"/>
                <a:cs typeface="Calibri" pitchFamily="34" charset="-120"/>
              </a:rPr>
              <a:t> = +0.652  | OR = 1.919  |  p&lt;0.001 — each extra ticket nearly doubles churn odds</a:t>
            </a:r>
            <a:endParaRPr lang="en-US" sz="1000" dirty="0"/>
          </a:p>
        </p:txBody>
      </p:sp>
      <p:sp>
        <p:nvSpPr>
          <p:cNvPr id="20" name="Shape 17"/>
          <p:cNvSpPr/>
          <p:nvPr/>
        </p:nvSpPr>
        <p:spPr>
          <a:xfrm>
            <a:off x="306324" y="3369564"/>
            <a:ext cx="8595360" cy="1417320"/>
          </a:xfrm>
          <a:prstGeom prst="rect">
            <a:avLst/>
          </a:prstGeom>
          <a:solidFill>
            <a:srgbClr val="F0F5FB"/>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dirty="0"/>
          </a:p>
        </p:txBody>
      </p:sp>
      <p:sp>
        <p:nvSpPr>
          <p:cNvPr id="21" name="Shape 18"/>
          <p:cNvSpPr/>
          <p:nvPr/>
        </p:nvSpPr>
        <p:spPr>
          <a:xfrm>
            <a:off x="274320" y="3342132"/>
            <a:ext cx="64008" cy="1417320"/>
          </a:xfrm>
          <a:prstGeom prst="rect">
            <a:avLst/>
          </a:prstGeom>
          <a:solidFill>
            <a:srgbClr val="2E86AB"/>
          </a:solidFill>
          <a:ln/>
        </p:spPr>
        <p:txBody>
          <a:bodyPr/>
          <a:lstStyle/>
          <a:p>
            <a:endParaRPr lang="en-GB"/>
          </a:p>
        </p:txBody>
      </p:sp>
      <p:sp>
        <p:nvSpPr>
          <p:cNvPr id="22" name="Text 19"/>
          <p:cNvSpPr/>
          <p:nvPr/>
        </p:nvSpPr>
        <p:spPr>
          <a:xfrm>
            <a:off x="457200" y="3433572"/>
            <a:ext cx="8229600" cy="292608"/>
          </a:xfrm>
          <a:prstGeom prst="rect">
            <a:avLst/>
          </a:prstGeom>
          <a:noFill/>
          <a:ln/>
        </p:spPr>
        <p:txBody>
          <a:bodyPr wrap="square" lIns="0" tIns="0" rIns="0" bIns="0" rtlCol="0" anchor="ctr"/>
          <a:lstStyle/>
          <a:p>
            <a:pPr marL="0" indent="0">
              <a:buNone/>
            </a:pPr>
            <a:endParaRPr lang="en-US" sz="1200" dirty="0"/>
          </a:p>
        </p:txBody>
      </p:sp>
      <p:sp>
        <p:nvSpPr>
          <p:cNvPr id="23" name="Text 20"/>
          <p:cNvSpPr/>
          <p:nvPr/>
        </p:nvSpPr>
        <p:spPr>
          <a:xfrm>
            <a:off x="457200" y="3735324"/>
            <a:ext cx="8229600" cy="86868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Contract </a:t>
            </a:r>
            <a:r>
              <a:rPr lang="en-US" altLang="zh-CN" sz="1100" dirty="0">
                <a:solidFill>
                  <a:srgbClr val="1A1A2E"/>
                </a:solidFill>
                <a:latin typeface="Calibri" pitchFamily="34" charset="0"/>
                <a:ea typeface="Calibri" pitchFamily="34" charset="-122"/>
                <a:cs typeface="Calibri" pitchFamily="34" charset="-120"/>
              </a:rPr>
              <a:t>Type</a:t>
            </a:r>
            <a:r>
              <a:rPr lang="en-US" sz="1100" dirty="0">
                <a:solidFill>
                  <a:srgbClr val="1A1A2E"/>
                </a:solidFill>
                <a:latin typeface="Calibri" pitchFamily="34" charset="0"/>
                <a:ea typeface="Calibri" pitchFamily="34" charset="-122"/>
                <a:cs typeface="Calibri" pitchFamily="34" charset="-120"/>
              </a:rPr>
              <a:t> is a lever management  — migrating customers from monthly to annual contracts is a structural approach to mitigate churn. Meanwhile, customers who have 3+ support tickets are a high-risk cohort requiring immediate, personalized remedy outreach.</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228600" y="137160"/>
            <a:ext cx="1645920" cy="777240"/>
          </a:xfrm>
          <a:prstGeom prst="rect">
            <a:avLst/>
          </a:prstGeom>
          <a:noFill/>
          <a:ln/>
        </p:spPr>
        <p:txBody>
          <a:bodyPr wrap="square" lIns="0" tIns="0" rIns="0" bIns="0" rtlCol="0" anchor="ctr"/>
          <a:lstStyle/>
          <a:p>
            <a:pPr marL="0" indent="0">
              <a:buNone/>
            </a:pPr>
            <a:r>
              <a:rPr lang="en-US" sz="1400" b="1" dirty="0">
                <a:solidFill>
                  <a:srgbClr val="E84A5F"/>
                </a:solidFill>
                <a:latin typeface="Calibri" pitchFamily="34" charset="0"/>
                <a:ea typeface="Calibri" pitchFamily="34" charset="-122"/>
                <a:cs typeface="Calibri" pitchFamily="34" charset="-120"/>
              </a:rPr>
              <a:t>Findings 4 &amp; 5</a:t>
            </a:r>
            <a:endParaRPr lang="en-US" sz="1400" dirty="0"/>
          </a:p>
        </p:txBody>
      </p:sp>
      <p:sp>
        <p:nvSpPr>
          <p:cNvPr id="4" name="Text 2"/>
          <p:cNvSpPr/>
          <p:nvPr/>
        </p:nvSpPr>
        <p:spPr>
          <a:xfrm>
            <a:off x="1828800" y="137160"/>
            <a:ext cx="6858000" cy="7772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Login </a:t>
            </a:r>
            <a:r>
              <a:rPr lang="en-US" altLang="zh-CN" sz="2600" b="1" dirty="0">
                <a:solidFill>
                  <a:srgbClr val="FFFFFF"/>
                </a:solidFill>
                <a:latin typeface="Calibri" pitchFamily="34" charset="0"/>
                <a:ea typeface="Calibri" pitchFamily="34" charset="-122"/>
                <a:cs typeface="Calibri" pitchFamily="34" charset="-120"/>
              </a:rPr>
              <a:t>Recency</a:t>
            </a:r>
            <a:r>
              <a:rPr lang="en-US" sz="2600" b="1" dirty="0">
                <a:solidFill>
                  <a:srgbClr val="FFFFFF"/>
                </a:solidFill>
                <a:latin typeface="Calibri" pitchFamily="34" charset="0"/>
                <a:ea typeface="Calibri" pitchFamily="34" charset="-122"/>
                <a:cs typeface="Calibri" pitchFamily="34" charset="-120"/>
              </a:rPr>
              <a:t> &amp; Customer Tenure</a:t>
            </a:r>
            <a:endParaRPr lang="en-US" sz="2600" dirty="0"/>
          </a:p>
        </p:txBody>
      </p:sp>
      <p:sp>
        <p:nvSpPr>
          <p:cNvPr id="5" name="Text 3"/>
          <p:cNvSpPr/>
          <p:nvPr/>
        </p:nvSpPr>
        <p:spPr>
          <a:xfrm>
            <a:off x="274320" y="1097280"/>
            <a:ext cx="4389120" cy="32004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Finding 4: Days Since Last Login</a:t>
            </a:r>
            <a:endParaRPr lang="en-US" sz="1300" dirty="0"/>
          </a:p>
        </p:txBody>
      </p:sp>
      <p:pic>
        <p:nvPicPr>
          <p:cNvPr id="6" name="Image 0" descr="preencoded.png"/>
          <p:cNvPicPr>
            <a:picLocks noChangeAspect="1"/>
          </p:cNvPicPr>
          <p:nvPr/>
        </p:nvPicPr>
        <p:blipFill>
          <a:blip r:embed="rId3"/>
          <a:stretch>
            <a:fillRect/>
          </a:stretch>
        </p:blipFill>
        <p:spPr>
          <a:xfrm>
            <a:off x="274320" y="1444752"/>
            <a:ext cx="4389120" cy="2560320"/>
          </a:xfrm>
          <a:prstGeom prst="rect">
            <a:avLst/>
          </a:prstGeom>
        </p:spPr>
      </p:pic>
      <p:sp>
        <p:nvSpPr>
          <p:cNvPr id="7" name="Text 4"/>
          <p:cNvSpPr/>
          <p:nvPr/>
        </p:nvSpPr>
        <p:spPr>
          <a:xfrm>
            <a:off x="274320" y="4041648"/>
            <a:ext cx="4389120" cy="256032"/>
          </a:xfrm>
          <a:prstGeom prst="rect">
            <a:avLst/>
          </a:prstGeom>
          <a:noFill/>
          <a:ln/>
        </p:spPr>
        <p:txBody>
          <a:bodyPr wrap="square" lIns="0" tIns="0" rIns="0" bIns="0" rtlCol="0" anchor="ctr"/>
          <a:lstStyle/>
          <a:p>
            <a:pPr marL="0" indent="0" algn="ctr">
              <a:buNone/>
            </a:pPr>
            <a:r>
              <a:rPr lang="en-US" sz="1000" i="1" dirty="0" err="1">
                <a:solidFill>
                  <a:srgbClr val="64748B"/>
                </a:solidFill>
                <a:latin typeface="Calibri" pitchFamily="34" charset="0"/>
                <a:ea typeface="Calibri" pitchFamily="34" charset="-122"/>
                <a:cs typeface="Calibri" pitchFamily="34" charset="-120"/>
              </a:rPr>
              <a:t>Coef</a:t>
            </a:r>
            <a:r>
              <a:rPr lang="en-US" sz="1000" i="1" dirty="0">
                <a:solidFill>
                  <a:srgbClr val="64748B"/>
                </a:solidFill>
                <a:latin typeface="Calibri" pitchFamily="34" charset="0"/>
                <a:ea typeface="Calibri" pitchFamily="34" charset="-122"/>
                <a:cs typeface="Calibri" pitchFamily="34" charset="-120"/>
              </a:rPr>
              <a:t>=0.093  |  OR=1.097 per day  |  p&lt;0.001</a:t>
            </a:r>
            <a:endParaRPr lang="en-US" sz="1000" dirty="0"/>
          </a:p>
        </p:txBody>
      </p:sp>
      <p:sp>
        <p:nvSpPr>
          <p:cNvPr id="8" name="Text 5"/>
          <p:cNvSpPr/>
          <p:nvPr/>
        </p:nvSpPr>
        <p:spPr>
          <a:xfrm>
            <a:off x="5029200" y="1097280"/>
            <a:ext cx="3840480" cy="320040"/>
          </a:xfrm>
          <a:prstGeom prst="rect">
            <a:avLst/>
          </a:prstGeom>
          <a:noFill/>
          <a:ln/>
        </p:spPr>
        <p:txBody>
          <a:bodyPr wrap="square" lIns="0" tIns="0" rIns="0" bIns="0" rtlCol="0" anchor="ctr"/>
          <a:lstStyle/>
          <a:p>
            <a:pPr marL="0" indent="0">
              <a:buNone/>
            </a:pPr>
            <a:r>
              <a:rPr lang="en-US" sz="1300" b="1" dirty="0">
                <a:solidFill>
                  <a:srgbClr val="1C4B82"/>
                </a:solidFill>
                <a:latin typeface="Calibri" pitchFamily="34" charset="0"/>
                <a:ea typeface="Calibri" pitchFamily="34" charset="-122"/>
                <a:cs typeface="Calibri" pitchFamily="34" charset="-120"/>
              </a:rPr>
              <a:t>Finding 5: Customer Tenure Effect</a:t>
            </a:r>
            <a:endParaRPr lang="en-US" sz="1300" dirty="0"/>
          </a:p>
        </p:txBody>
      </p:sp>
      <p:sp>
        <p:nvSpPr>
          <p:cNvPr id="9" name="Shape 6"/>
          <p:cNvSpPr/>
          <p:nvPr/>
        </p:nvSpPr>
        <p:spPr>
          <a:xfrm>
            <a:off x="5029200" y="1463040"/>
            <a:ext cx="3840480" cy="6858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10" name="Shape 7"/>
          <p:cNvSpPr/>
          <p:nvPr/>
        </p:nvSpPr>
        <p:spPr>
          <a:xfrm>
            <a:off x="5029200" y="1463040"/>
            <a:ext cx="54864" cy="685800"/>
          </a:xfrm>
          <a:prstGeom prst="rect">
            <a:avLst/>
          </a:prstGeom>
          <a:solidFill>
            <a:srgbClr val="E84A5F"/>
          </a:solidFill>
          <a:ln/>
        </p:spPr>
        <p:txBody>
          <a:bodyPr/>
          <a:lstStyle/>
          <a:p>
            <a:endParaRPr lang="en-GB"/>
          </a:p>
        </p:txBody>
      </p:sp>
      <p:sp>
        <p:nvSpPr>
          <p:cNvPr id="11" name="Text 8"/>
          <p:cNvSpPr/>
          <p:nvPr/>
        </p:nvSpPr>
        <p:spPr>
          <a:xfrm>
            <a:off x="5166360" y="1517904"/>
            <a:ext cx="2011680" cy="256032"/>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1–3 months</a:t>
            </a:r>
            <a:endParaRPr lang="en-US" sz="1100" dirty="0"/>
          </a:p>
        </p:txBody>
      </p:sp>
      <p:sp>
        <p:nvSpPr>
          <p:cNvPr id="12" name="Text 9"/>
          <p:cNvSpPr/>
          <p:nvPr/>
        </p:nvSpPr>
        <p:spPr>
          <a:xfrm>
            <a:off x="7223760" y="1517904"/>
            <a:ext cx="1554480" cy="256032"/>
          </a:xfrm>
          <a:prstGeom prst="rect">
            <a:avLst/>
          </a:prstGeom>
          <a:noFill/>
          <a:ln/>
        </p:spPr>
        <p:txBody>
          <a:bodyPr wrap="square" lIns="0" tIns="0" rIns="0" bIns="0" rtlCol="0" anchor="ctr"/>
          <a:lstStyle/>
          <a:p>
            <a:pPr marL="0" indent="0" algn="r">
              <a:buNone/>
            </a:pPr>
            <a:r>
              <a:rPr lang="en-US" sz="1050" b="1" dirty="0">
                <a:solidFill>
                  <a:srgbClr val="E84A5F"/>
                </a:solidFill>
                <a:latin typeface="Calibri" pitchFamily="34" charset="0"/>
                <a:ea typeface="Calibri" pitchFamily="34" charset="-122"/>
                <a:cs typeface="Calibri" pitchFamily="34" charset="-120"/>
              </a:rPr>
              <a:t>HIGH RISK</a:t>
            </a:r>
            <a:endParaRPr lang="en-US" sz="1050" dirty="0"/>
          </a:p>
        </p:txBody>
      </p:sp>
      <p:sp>
        <p:nvSpPr>
          <p:cNvPr id="13" name="Text 10"/>
          <p:cNvSpPr/>
          <p:nvPr/>
        </p:nvSpPr>
        <p:spPr>
          <a:xfrm>
            <a:off x="5166360" y="1792224"/>
            <a:ext cx="356616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New customers — value not yet realized – 55% churn rate</a:t>
            </a:r>
            <a:endParaRPr lang="en-US" sz="1000" dirty="0"/>
          </a:p>
        </p:txBody>
      </p:sp>
      <p:sp>
        <p:nvSpPr>
          <p:cNvPr id="14" name="Shape 11"/>
          <p:cNvSpPr/>
          <p:nvPr/>
        </p:nvSpPr>
        <p:spPr>
          <a:xfrm>
            <a:off x="5029200" y="2240280"/>
            <a:ext cx="3840480" cy="6858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dirty="0"/>
          </a:p>
        </p:txBody>
      </p:sp>
      <p:sp>
        <p:nvSpPr>
          <p:cNvPr id="15" name="Shape 12"/>
          <p:cNvSpPr/>
          <p:nvPr/>
        </p:nvSpPr>
        <p:spPr>
          <a:xfrm>
            <a:off x="5029200" y="2240280"/>
            <a:ext cx="54864" cy="685800"/>
          </a:xfrm>
          <a:prstGeom prst="rect">
            <a:avLst/>
          </a:prstGeom>
          <a:solidFill>
            <a:srgbClr val="D97706"/>
          </a:solidFill>
          <a:ln/>
        </p:spPr>
        <p:txBody>
          <a:bodyPr/>
          <a:lstStyle/>
          <a:p>
            <a:endParaRPr lang="en-GB"/>
          </a:p>
        </p:txBody>
      </p:sp>
      <p:sp>
        <p:nvSpPr>
          <p:cNvPr id="16" name="Text 13"/>
          <p:cNvSpPr/>
          <p:nvPr/>
        </p:nvSpPr>
        <p:spPr>
          <a:xfrm>
            <a:off x="5166360" y="2295144"/>
            <a:ext cx="2011680" cy="256032"/>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4–12 months</a:t>
            </a:r>
            <a:endParaRPr lang="en-US" sz="1100" dirty="0"/>
          </a:p>
        </p:txBody>
      </p:sp>
      <p:sp>
        <p:nvSpPr>
          <p:cNvPr id="17" name="Text 14"/>
          <p:cNvSpPr/>
          <p:nvPr/>
        </p:nvSpPr>
        <p:spPr>
          <a:xfrm>
            <a:off x="7223760" y="2295144"/>
            <a:ext cx="1554480" cy="256032"/>
          </a:xfrm>
          <a:prstGeom prst="rect">
            <a:avLst/>
          </a:prstGeom>
          <a:noFill/>
          <a:ln/>
        </p:spPr>
        <p:txBody>
          <a:bodyPr wrap="square" lIns="0" tIns="0" rIns="0" bIns="0" rtlCol="0" anchor="ctr"/>
          <a:lstStyle/>
          <a:p>
            <a:pPr marL="0" indent="0" algn="r">
              <a:buNone/>
            </a:pPr>
            <a:r>
              <a:rPr lang="en-US" sz="1050" b="1" dirty="0">
                <a:solidFill>
                  <a:srgbClr val="D97706"/>
                </a:solidFill>
                <a:latin typeface="Calibri" pitchFamily="34" charset="0"/>
                <a:ea typeface="Calibri" pitchFamily="34" charset="-122"/>
                <a:cs typeface="Calibri" pitchFamily="34" charset="-120"/>
              </a:rPr>
              <a:t>MODERATE</a:t>
            </a:r>
            <a:endParaRPr lang="en-US" sz="1050" dirty="0"/>
          </a:p>
        </p:txBody>
      </p:sp>
      <p:sp>
        <p:nvSpPr>
          <p:cNvPr id="18" name="Text 15"/>
          <p:cNvSpPr/>
          <p:nvPr/>
        </p:nvSpPr>
        <p:spPr>
          <a:xfrm>
            <a:off x="5166360" y="2569464"/>
            <a:ext cx="356616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Building habits and product familiarity – 46% churn rate</a:t>
            </a:r>
            <a:endParaRPr lang="en-US" sz="1000" dirty="0"/>
          </a:p>
        </p:txBody>
      </p:sp>
      <p:sp>
        <p:nvSpPr>
          <p:cNvPr id="19" name="Shape 16"/>
          <p:cNvSpPr/>
          <p:nvPr/>
        </p:nvSpPr>
        <p:spPr>
          <a:xfrm>
            <a:off x="5029200" y="3017520"/>
            <a:ext cx="3840480" cy="6858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dirty="0"/>
          </a:p>
        </p:txBody>
      </p:sp>
      <p:sp>
        <p:nvSpPr>
          <p:cNvPr id="20" name="Shape 17"/>
          <p:cNvSpPr/>
          <p:nvPr/>
        </p:nvSpPr>
        <p:spPr>
          <a:xfrm>
            <a:off x="5029200" y="3017520"/>
            <a:ext cx="54864" cy="685800"/>
          </a:xfrm>
          <a:prstGeom prst="rect">
            <a:avLst/>
          </a:prstGeom>
          <a:solidFill>
            <a:srgbClr val="028090"/>
          </a:solidFill>
          <a:ln/>
        </p:spPr>
        <p:txBody>
          <a:bodyPr/>
          <a:lstStyle/>
          <a:p>
            <a:endParaRPr lang="en-GB"/>
          </a:p>
        </p:txBody>
      </p:sp>
      <p:sp>
        <p:nvSpPr>
          <p:cNvPr id="21" name="Text 18"/>
          <p:cNvSpPr/>
          <p:nvPr/>
        </p:nvSpPr>
        <p:spPr>
          <a:xfrm>
            <a:off x="5166360" y="3072384"/>
            <a:ext cx="2011680" cy="256032"/>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13–24 months</a:t>
            </a:r>
            <a:endParaRPr lang="en-US" sz="1100" dirty="0"/>
          </a:p>
        </p:txBody>
      </p:sp>
      <p:sp>
        <p:nvSpPr>
          <p:cNvPr id="22" name="Text 19"/>
          <p:cNvSpPr/>
          <p:nvPr/>
        </p:nvSpPr>
        <p:spPr>
          <a:xfrm>
            <a:off x="7223760" y="3072384"/>
            <a:ext cx="1554480" cy="256032"/>
          </a:xfrm>
          <a:prstGeom prst="rect">
            <a:avLst/>
          </a:prstGeom>
          <a:noFill/>
          <a:ln/>
        </p:spPr>
        <p:txBody>
          <a:bodyPr wrap="square" lIns="0" tIns="0" rIns="0" bIns="0" rtlCol="0" anchor="ctr"/>
          <a:lstStyle/>
          <a:p>
            <a:pPr marL="0" indent="0" algn="r">
              <a:buNone/>
            </a:pPr>
            <a:r>
              <a:rPr lang="en-US" sz="1050" b="1" dirty="0">
                <a:solidFill>
                  <a:srgbClr val="028090"/>
                </a:solidFill>
                <a:latin typeface="Calibri" pitchFamily="34" charset="0"/>
                <a:ea typeface="Calibri" pitchFamily="34" charset="-122"/>
                <a:cs typeface="Calibri" pitchFamily="34" charset="-120"/>
              </a:rPr>
              <a:t>LOWER RISK</a:t>
            </a:r>
            <a:endParaRPr lang="en-US" sz="1050" dirty="0"/>
          </a:p>
        </p:txBody>
      </p:sp>
      <p:sp>
        <p:nvSpPr>
          <p:cNvPr id="23" name="Text 20"/>
          <p:cNvSpPr/>
          <p:nvPr/>
        </p:nvSpPr>
        <p:spPr>
          <a:xfrm>
            <a:off x="5166360" y="3346704"/>
            <a:ext cx="356616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Established routines, higher loyalty – 22% churn rate</a:t>
            </a:r>
            <a:endParaRPr lang="en-US" sz="1000" dirty="0"/>
          </a:p>
        </p:txBody>
      </p:sp>
      <p:sp>
        <p:nvSpPr>
          <p:cNvPr id="24" name="Shape 21"/>
          <p:cNvSpPr/>
          <p:nvPr/>
        </p:nvSpPr>
        <p:spPr>
          <a:xfrm>
            <a:off x="5029200" y="3794760"/>
            <a:ext cx="3840480" cy="6858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dirty="0"/>
          </a:p>
        </p:txBody>
      </p:sp>
      <p:sp>
        <p:nvSpPr>
          <p:cNvPr id="25" name="Shape 22"/>
          <p:cNvSpPr/>
          <p:nvPr/>
        </p:nvSpPr>
        <p:spPr>
          <a:xfrm>
            <a:off x="5029200" y="3794760"/>
            <a:ext cx="54864" cy="685800"/>
          </a:xfrm>
          <a:prstGeom prst="rect">
            <a:avLst/>
          </a:prstGeom>
          <a:solidFill>
            <a:srgbClr val="1C7C3D"/>
          </a:solidFill>
          <a:ln/>
        </p:spPr>
        <p:txBody>
          <a:bodyPr/>
          <a:lstStyle/>
          <a:p>
            <a:endParaRPr lang="en-GB"/>
          </a:p>
        </p:txBody>
      </p:sp>
      <p:sp>
        <p:nvSpPr>
          <p:cNvPr id="26" name="Text 23"/>
          <p:cNvSpPr/>
          <p:nvPr/>
        </p:nvSpPr>
        <p:spPr>
          <a:xfrm>
            <a:off x="5166360" y="3849624"/>
            <a:ext cx="2011680" cy="256032"/>
          </a:xfrm>
          <a:prstGeom prst="rect">
            <a:avLst/>
          </a:prstGeom>
          <a:noFill/>
          <a:ln/>
        </p:spPr>
        <p:txBody>
          <a:bodyPr wrap="square" lIns="0" tIns="0" rIns="0" bIns="0"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25+ months</a:t>
            </a:r>
            <a:endParaRPr lang="en-US" sz="1100" dirty="0"/>
          </a:p>
        </p:txBody>
      </p:sp>
      <p:sp>
        <p:nvSpPr>
          <p:cNvPr id="27" name="Text 24"/>
          <p:cNvSpPr/>
          <p:nvPr/>
        </p:nvSpPr>
        <p:spPr>
          <a:xfrm>
            <a:off x="7223760" y="3849624"/>
            <a:ext cx="1554480" cy="256032"/>
          </a:xfrm>
          <a:prstGeom prst="rect">
            <a:avLst/>
          </a:prstGeom>
          <a:noFill/>
          <a:ln/>
        </p:spPr>
        <p:txBody>
          <a:bodyPr wrap="square" lIns="0" tIns="0" rIns="0" bIns="0" rtlCol="0" anchor="ctr"/>
          <a:lstStyle/>
          <a:p>
            <a:pPr marL="0" indent="0" algn="r">
              <a:buNone/>
            </a:pPr>
            <a:r>
              <a:rPr lang="en-US" sz="1050" b="1" dirty="0">
                <a:solidFill>
                  <a:srgbClr val="1C7C3D"/>
                </a:solidFill>
                <a:latin typeface="Calibri" pitchFamily="34" charset="0"/>
                <a:ea typeface="Calibri" pitchFamily="34" charset="-122"/>
                <a:cs typeface="Calibri" pitchFamily="34" charset="-120"/>
              </a:rPr>
              <a:t>LOWER RISK</a:t>
            </a:r>
            <a:endParaRPr lang="en-US" sz="1050" dirty="0"/>
          </a:p>
        </p:txBody>
      </p:sp>
      <p:sp>
        <p:nvSpPr>
          <p:cNvPr id="28" name="Text 25"/>
          <p:cNvSpPr/>
          <p:nvPr/>
        </p:nvSpPr>
        <p:spPr>
          <a:xfrm>
            <a:off x="5166360" y="4123944"/>
            <a:ext cx="3566160" cy="256032"/>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Long-term subscribers, deeply embedded – 23% churn rate</a:t>
            </a:r>
            <a:endParaRPr lang="en-US" sz="1000" dirty="0"/>
          </a:p>
        </p:txBody>
      </p:sp>
      <p:sp>
        <p:nvSpPr>
          <p:cNvPr id="29" name="Text 26"/>
          <p:cNvSpPr/>
          <p:nvPr/>
        </p:nvSpPr>
        <p:spPr>
          <a:xfrm>
            <a:off x="5029200" y="4572000"/>
            <a:ext cx="3840480" cy="256032"/>
          </a:xfrm>
          <a:prstGeom prst="rect">
            <a:avLst/>
          </a:prstGeom>
          <a:noFill/>
          <a:ln/>
        </p:spPr>
        <p:txBody>
          <a:bodyPr wrap="square" lIns="0" tIns="0" rIns="0" bIns="0" rtlCol="0" anchor="ctr"/>
          <a:lstStyle/>
          <a:p>
            <a:pPr algn="ctr"/>
            <a:r>
              <a:rPr lang="en-US" sz="1000" i="1" dirty="0">
                <a:solidFill>
                  <a:srgbClr val="64748B"/>
                </a:solidFill>
                <a:latin typeface="Calibri" pitchFamily="34" charset="0"/>
                <a:ea typeface="Calibri" pitchFamily="34" charset="-122"/>
                <a:cs typeface="Calibri" pitchFamily="34" charset="-120"/>
              </a:rPr>
              <a:t> </a:t>
            </a:r>
            <a:r>
              <a:rPr lang="en-US" sz="1000" i="1" dirty="0" err="1">
                <a:solidFill>
                  <a:srgbClr val="64748B"/>
                </a:solidFill>
                <a:latin typeface="Calibri" pitchFamily="34" charset="0"/>
                <a:ea typeface="Calibri" pitchFamily="34" charset="-122"/>
                <a:cs typeface="Calibri" pitchFamily="34" charset="-120"/>
              </a:rPr>
              <a:t>Coef</a:t>
            </a:r>
            <a:r>
              <a:rPr lang="en-US" sz="1000" i="1" dirty="0">
                <a:solidFill>
                  <a:srgbClr val="64748B"/>
                </a:solidFill>
                <a:latin typeface="Calibri" pitchFamily="34" charset="0"/>
                <a:ea typeface="Calibri" pitchFamily="34" charset="-122"/>
                <a:cs typeface="Calibri" pitchFamily="34" charset="-120"/>
              </a:rPr>
              <a:t>=-0.050  |  OR=0.951 per month  |  p&lt;0.001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365760" y="137160"/>
            <a:ext cx="841248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Model Summary</a:t>
            </a:r>
            <a:endParaRPr lang="en-US" sz="2800" dirty="0"/>
          </a:p>
        </p:txBody>
      </p:sp>
      <p:sp>
        <p:nvSpPr>
          <p:cNvPr id="4" name="Text 2"/>
          <p:cNvSpPr/>
          <p:nvPr/>
        </p:nvSpPr>
        <p:spPr>
          <a:xfrm>
            <a:off x="274320" y="1051560"/>
            <a:ext cx="8595360" cy="347472"/>
          </a:xfrm>
          <a:prstGeom prst="rect">
            <a:avLst/>
          </a:prstGeom>
          <a:noFill/>
          <a:ln/>
        </p:spPr>
        <p:txBody>
          <a:bodyPr wrap="square" lIns="0" tIns="0" rIns="0" bIns="0" rtlCol="0" anchor="ctr"/>
          <a:lstStyle/>
          <a:p>
            <a:pPr marL="0" indent="0" algn="ctr">
              <a:buNone/>
            </a:pPr>
            <a:r>
              <a:rPr lang="en-US" sz="1400" b="1" dirty="0">
                <a:solidFill>
                  <a:srgbClr val="1C4B82"/>
                </a:solidFill>
                <a:latin typeface="Calibri" pitchFamily="34" charset="0"/>
                <a:ea typeface="Calibri" pitchFamily="34" charset="-122"/>
                <a:cs typeface="Calibri" pitchFamily="34" charset="-120"/>
              </a:rPr>
              <a:t>Predictor Coefficients — Full Logistic Regression Model</a:t>
            </a:r>
            <a:endParaRPr lang="en-US" sz="1400" dirty="0"/>
          </a:p>
        </p:txBody>
      </p:sp>
      <p:pic>
        <p:nvPicPr>
          <p:cNvPr id="5" name="Image 0" descr="preencoded.png"/>
          <p:cNvPicPr>
            <a:picLocks noChangeAspect="1"/>
          </p:cNvPicPr>
          <p:nvPr/>
        </p:nvPicPr>
        <p:blipFill>
          <a:blip r:embed="rId3"/>
          <a:stretch>
            <a:fillRect/>
          </a:stretch>
        </p:blipFill>
        <p:spPr>
          <a:xfrm>
            <a:off x="548640" y="1417320"/>
            <a:ext cx="5486400" cy="3566160"/>
          </a:xfrm>
          <a:prstGeom prst="rect">
            <a:avLst/>
          </a:prstGeom>
        </p:spPr>
      </p:pic>
      <p:sp>
        <p:nvSpPr>
          <p:cNvPr id="6" name="Shape 3"/>
          <p:cNvSpPr/>
          <p:nvPr/>
        </p:nvSpPr>
        <p:spPr>
          <a:xfrm>
            <a:off x="6263640" y="1417320"/>
            <a:ext cx="2651760" cy="35661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7" name="Shape 4"/>
          <p:cNvSpPr/>
          <p:nvPr/>
        </p:nvSpPr>
        <p:spPr>
          <a:xfrm>
            <a:off x="6263640" y="1417320"/>
            <a:ext cx="2651760" cy="384048"/>
          </a:xfrm>
          <a:prstGeom prst="rect">
            <a:avLst/>
          </a:prstGeom>
          <a:solidFill>
            <a:srgbClr val="1C4B82"/>
          </a:solidFill>
          <a:ln/>
        </p:spPr>
        <p:txBody>
          <a:bodyPr/>
          <a:lstStyle/>
          <a:p>
            <a:endParaRPr lang="en-GB"/>
          </a:p>
        </p:txBody>
      </p:sp>
      <p:sp>
        <p:nvSpPr>
          <p:cNvPr id="8" name="Text 5"/>
          <p:cNvSpPr/>
          <p:nvPr/>
        </p:nvSpPr>
        <p:spPr>
          <a:xfrm>
            <a:off x="6355080" y="1435608"/>
            <a:ext cx="246888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How to Read</a:t>
            </a:r>
            <a:endParaRPr lang="en-US" sz="1200" dirty="0"/>
          </a:p>
        </p:txBody>
      </p:sp>
      <p:sp>
        <p:nvSpPr>
          <p:cNvPr id="9" name="Shape 6"/>
          <p:cNvSpPr/>
          <p:nvPr/>
        </p:nvSpPr>
        <p:spPr>
          <a:xfrm>
            <a:off x="6400800" y="1920240"/>
            <a:ext cx="201168" cy="347472"/>
          </a:xfrm>
          <a:prstGeom prst="rect">
            <a:avLst/>
          </a:prstGeom>
          <a:solidFill>
            <a:srgbClr val="E84A5F"/>
          </a:solidFill>
          <a:ln w="12700">
            <a:solidFill>
              <a:srgbClr val="E84A5F"/>
            </a:solidFill>
            <a:prstDash val="solid"/>
          </a:ln>
        </p:spPr>
        <p:txBody>
          <a:bodyPr/>
          <a:lstStyle/>
          <a:p>
            <a:endParaRPr lang="en-GB"/>
          </a:p>
        </p:txBody>
      </p:sp>
      <p:sp>
        <p:nvSpPr>
          <p:cNvPr id="10" name="Text 7"/>
          <p:cNvSpPr/>
          <p:nvPr/>
        </p:nvSpPr>
        <p:spPr>
          <a:xfrm>
            <a:off x="6675120" y="1920240"/>
            <a:ext cx="2148840" cy="530352"/>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Red bars (positive): predictor increases churn probability</a:t>
            </a:r>
            <a:endParaRPr lang="en-US" sz="1050" dirty="0"/>
          </a:p>
        </p:txBody>
      </p:sp>
      <p:sp>
        <p:nvSpPr>
          <p:cNvPr id="11" name="Shape 8"/>
          <p:cNvSpPr/>
          <p:nvPr/>
        </p:nvSpPr>
        <p:spPr>
          <a:xfrm>
            <a:off x="6400800" y="2578608"/>
            <a:ext cx="201168" cy="347472"/>
          </a:xfrm>
          <a:prstGeom prst="rect">
            <a:avLst/>
          </a:prstGeom>
          <a:solidFill>
            <a:srgbClr val="1C4B82"/>
          </a:solidFill>
          <a:ln w="12700">
            <a:solidFill>
              <a:srgbClr val="1C4B82"/>
            </a:solidFill>
            <a:prstDash val="solid"/>
          </a:ln>
        </p:spPr>
        <p:txBody>
          <a:bodyPr/>
          <a:lstStyle/>
          <a:p>
            <a:endParaRPr lang="en-GB"/>
          </a:p>
        </p:txBody>
      </p:sp>
      <p:sp>
        <p:nvSpPr>
          <p:cNvPr id="12" name="Text 9"/>
          <p:cNvSpPr/>
          <p:nvPr/>
        </p:nvSpPr>
        <p:spPr>
          <a:xfrm>
            <a:off x="6675120" y="2578608"/>
            <a:ext cx="2148840" cy="530352"/>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Blue bars (negative): predictor reduces churn probability</a:t>
            </a:r>
            <a:endParaRPr lang="en-US" sz="1050" dirty="0"/>
          </a:p>
        </p:txBody>
      </p:sp>
      <p:sp>
        <p:nvSpPr>
          <p:cNvPr id="13" name="Shape 10"/>
          <p:cNvSpPr/>
          <p:nvPr/>
        </p:nvSpPr>
        <p:spPr>
          <a:xfrm>
            <a:off x="6400800" y="3236976"/>
            <a:ext cx="201168" cy="347472"/>
          </a:xfrm>
          <a:prstGeom prst="rect">
            <a:avLst/>
          </a:prstGeom>
          <a:solidFill>
            <a:srgbClr val="CBD5E1"/>
          </a:solidFill>
          <a:ln w="12700">
            <a:solidFill>
              <a:srgbClr val="CBD5E1"/>
            </a:solidFill>
            <a:prstDash val="solid"/>
          </a:ln>
        </p:spPr>
        <p:txBody>
          <a:bodyPr/>
          <a:lstStyle/>
          <a:p>
            <a:endParaRPr lang="en-GB"/>
          </a:p>
        </p:txBody>
      </p:sp>
      <p:sp>
        <p:nvSpPr>
          <p:cNvPr id="14" name="Text 11"/>
          <p:cNvSpPr/>
          <p:nvPr/>
        </p:nvSpPr>
        <p:spPr>
          <a:xfrm>
            <a:off x="6675120" y="3236976"/>
            <a:ext cx="2148840" cy="530352"/>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Transparent bars: not statistically significant (p≥0.05)</a:t>
            </a:r>
            <a:endParaRPr lang="en-US" sz="1050" dirty="0"/>
          </a:p>
        </p:txBody>
      </p:sp>
      <p:sp>
        <p:nvSpPr>
          <p:cNvPr id="15" name="Shape 12"/>
          <p:cNvSpPr/>
          <p:nvPr/>
        </p:nvSpPr>
        <p:spPr>
          <a:xfrm>
            <a:off x="6400800" y="3895344"/>
            <a:ext cx="201168" cy="347472"/>
          </a:xfrm>
          <a:prstGeom prst="rect">
            <a:avLst/>
          </a:prstGeom>
          <a:solidFill>
            <a:srgbClr val="1C4B82"/>
          </a:solidFill>
          <a:ln w="12700">
            <a:solidFill>
              <a:srgbClr val="1C4B82"/>
            </a:solidFill>
            <a:prstDash val="solid"/>
          </a:ln>
        </p:spPr>
        <p:txBody>
          <a:bodyPr/>
          <a:lstStyle/>
          <a:p>
            <a:endParaRPr lang="en-GB"/>
          </a:p>
        </p:txBody>
      </p:sp>
      <p:sp>
        <p:nvSpPr>
          <p:cNvPr id="16" name="Text 13"/>
          <p:cNvSpPr/>
          <p:nvPr/>
        </p:nvSpPr>
        <p:spPr>
          <a:xfrm>
            <a:off x="6675120" y="3895344"/>
            <a:ext cx="2148840" cy="530352"/>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Longer bar = stronger effect on churn</a:t>
            </a:r>
            <a:endParaRPr lang="en-US" sz="1050" dirty="0"/>
          </a:p>
        </p:txBody>
      </p:sp>
      <p:sp>
        <p:nvSpPr>
          <p:cNvPr id="17" name="Shape 14"/>
          <p:cNvSpPr/>
          <p:nvPr/>
        </p:nvSpPr>
        <p:spPr>
          <a:xfrm>
            <a:off x="6263640" y="4343400"/>
            <a:ext cx="2651760" cy="640080"/>
          </a:xfrm>
          <a:prstGeom prst="rect">
            <a:avLst/>
          </a:prstGeom>
          <a:solidFill>
            <a:srgbClr val="F0F5FB"/>
          </a:solidFill>
          <a:ln w="12700">
            <a:solidFill>
              <a:srgbClr val="CBD5E1"/>
            </a:solidFill>
            <a:prstDash val="solid"/>
          </a:ln>
        </p:spPr>
        <p:txBody>
          <a:bodyPr/>
          <a:lstStyle/>
          <a:p>
            <a:endParaRPr lang="en-GB"/>
          </a:p>
        </p:txBody>
      </p:sp>
      <p:sp>
        <p:nvSpPr>
          <p:cNvPr id="18" name="Text 15"/>
          <p:cNvSpPr/>
          <p:nvPr/>
        </p:nvSpPr>
        <p:spPr>
          <a:xfrm>
            <a:off x="6355080" y="4370832"/>
            <a:ext cx="2468880" cy="548640"/>
          </a:xfrm>
          <a:prstGeom prst="rect">
            <a:avLst/>
          </a:prstGeom>
          <a:noFill/>
          <a:ln/>
        </p:spPr>
        <p:txBody>
          <a:bodyPr wrap="square" lIns="0" tIns="0" rIns="0" bIns="0" rtlCol="0" anchor="ctr"/>
          <a:lstStyle/>
          <a:p>
            <a:pPr marL="0" indent="0">
              <a:buNone/>
            </a:pPr>
            <a:r>
              <a:rPr lang="en-US" sz="1050" b="1" dirty="0">
                <a:solidFill>
                  <a:srgbClr val="1C4B82"/>
                </a:solidFill>
                <a:latin typeface="Calibri" pitchFamily="34" charset="0"/>
                <a:ea typeface="Calibri" pitchFamily="34" charset="-122"/>
                <a:cs typeface="Calibri" pitchFamily="34" charset="-120"/>
              </a:rPr>
              <a:t>7 of 14 predictors are statistically significant. Satisfaction score and contract type are dominant.</a:t>
            </a:r>
            <a:r>
              <a:rPr lang="en-GB" sz="1050" b="1" dirty="0">
                <a:solidFill>
                  <a:srgbClr val="1C4B82"/>
                </a:solidFill>
                <a:latin typeface="Calibri" pitchFamily="34" charset="0"/>
                <a:ea typeface="Calibri" pitchFamily="34" charset="-122"/>
                <a:cs typeface="Calibri" pitchFamily="34" charset="-120"/>
              </a:rPr>
              <a:t>(see</a:t>
            </a:r>
            <a:r>
              <a:rPr lang="zh-CN" altLang="en-US" sz="1050" b="1" dirty="0">
                <a:solidFill>
                  <a:srgbClr val="1C4B82"/>
                </a:solidFill>
                <a:latin typeface="Calibri" pitchFamily="34" charset="0"/>
                <a:ea typeface="Calibri" pitchFamily="34" charset="-122"/>
                <a:cs typeface="Calibri" pitchFamily="34" charset="-120"/>
              </a:rPr>
              <a:t> </a:t>
            </a:r>
            <a:r>
              <a:rPr lang="en-GB" altLang="zh-CN" sz="1050" b="1" dirty="0">
                <a:solidFill>
                  <a:srgbClr val="1C4B82"/>
                </a:solidFill>
                <a:latin typeface="Calibri" pitchFamily="34" charset="0"/>
                <a:ea typeface="Calibri" pitchFamily="34" charset="-122"/>
                <a:cs typeface="Calibri" pitchFamily="34" charset="-120"/>
              </a:rPr>
              <a:t>appendix)</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C4B82"/>
          </a:solidFill>
          <a:ln/>
        </p:spPr>
        <p:txBody>
          <a:bodyPr/>
          <a:lstStyle/>
          <a:p>
            <a:endParaRPr lang="en-GB"/>
          </a:p>
        </p:txBody>
      </p:sp>
      <p:sp>
        <p:nvSpPr>
          <p:cNvPr id="3" name="Text 1"/>
          <p:cNvSpPr/>
          <p:nvPr/>
        </p:nvSpPr>
        <p:spPr>
          <a:xfrm>
            <a:off x="228600" y="137160"/>
            <a:ext cx="640080" cy="777240"/>
          </a:xfrm>
          <a:prstGeom prst="rect">
            <a:avLst/>
          </a:prstGeom>
          <a:noFill/>
          <a:ln/>
        </p:spPr>
        <p:txBody>
          <a:bodyPr wrap="square" lIns="0" tIns="0" rIns="0" bIns="0" rtlCol="0" anchor="ctr"/>
          <a:lstStyle/>
          <a:p>
            <a:pPr marL="0" indent="0">
              <a:buNone/>
            </a:pPr>
            <a:r>
              <a:rPr lang="en-US" sz="1800" b="1" dirty="0">
                <a:solidFill>
                  <a:srgbClr val="E84A5F"/>
                </a:solidFill>
                <a:latin typeface="Calibri" pitchFamily="34" charset="0"/>
                <a:ea typeface="Calibri" pitchFamily="34" charset="-122"/>
                <a:cs typeface="Calibri" pitchFamily="34" charset="-120"/>
              </a:rPr>
              <a:t>05</a:t>
            </a:r>
            <a:endParaRPr lang="en-US" sz="1800" dirty="0"/>
          </a:p>
        </p:txBody>
      </p:sp>
      <p:sp>
        <p:nvSpPr>
          <p:cNvPr id="4" name="Text 2"/>
          <p:cNvSpPr/>
          <p:nvPr/>
        </p:nvSpPr>
        <p:spPr>
          <a:xfrm>
            <a:off x="822960" y="137160"/>
            <a:ext cx="77724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Strategic Recommendations</a:t>
            </a:r>
            <a:endParaRPr lang="en-US" sz="2800" dirty="0"/>
          </a:p>
        </p:txBody>
      </p:sp>
      <p:sp>
        <p:nvSpPr>
          <p:cNvPr id="5" name="Shape 3"/>
          <p:cNvSpPr/>
          <p:nvPr/>
        </p:nvSpPr>
        <p:spPr>
          <a:xfrm>
            <a:off x="274320" y="1143000"/>
            <a:ext cx="8595360" cy="65836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6" name="Shape 4"/>
          <p:cNvSpPr/>
          <p:nvPr/>
        </p:nvSpPr>
        <p:spPr>
          <a:xfrm>
            <a:off x="274320" y="1143000"/>
            <a:ext cx="502920" cy="658368"/>
          </a:xfrm>
          <a:prstGeom prst="rect">
            <a:avLst/>
          </a:prstGeom>
          <a:solidFill>
            <a:srgbClr val="1C4B82"/>
          </a:solidFill>
          <a:ln/>
        </p:spPr>
        <p:txBody>
          <a:bodyPr/>
          <a:lstStyle/>
          <a:p>
            <a:endParaRPr lang="en-GB"/>
          </a:p>
        </p:txBody>
      </p:sp>
      <p:sp>
        <p:nvSpPr>
          <p:cNvPr id="7" name="Text 5"/>
          <p:cNvSpPr/>
          <p:nvPr/>
        </p:nvSpPr>
        <p:spPr>
          <a:xfrm>
            <a:off x="274320" y="1143000"/>
            <a:ext cx="50292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R1</a:t>
            </a:r>
            <a:endParaRPr lang="en-US" sz="1200" dirty="0"/>
          </a:p>
        </p:txBody>
      </p:sp>
      <p:sp>
        <p:nvSpPr>
          <p:cNvPr id="8" name="Text 6"/>
          <p:cNvSpPr/>
          <p:nvPr/>
        </p:nvSpPr>
        <p:spPr>
          <a:xfrm>
            <a:off x="868680" y="1197864"/>
            <a:ext cx="2560320" cy="274320"/>
          </a:xfrm>
          <a:prstGeom prst="rect">
            <a:avLst/>
          </a:prstGeom>
          <a:noFill/>
          <a:ln/>
        </p:spPr>
        <p:txBody>
          <a:bodyPr wrap="square" lIns="0" tIns="0" rIns="0" bIns="0" rtlCol="0" anchor="ctr"/>
          <a:lstStyle/>
          <a:p>
            <a:pPr marL="0" indent="0">
              <a:buNone/>
            </a:pPr>
            <a:r>
              <a:rPr lang="en-US" sz="1150" b="1" dirty="0">
                <a:solidFill>
                  <a:srgbClr val="1C4B82"/>
                </a:solidFill>
                <a:latin typeface="Calibri" pitchFamily="34" charset="0"/>
                <a:ea typeface="Calibri" pitchFamily="34" charset="-122"/>
                <a:cs typeface="Calibri" pitchFamily="34" charset="-120"/>
              </a:rPr>
              <a:t>Real-Time Satisfaction Monitoring</a:t>
            </a:r>
            <a:endParaRPr lang="en-US" sz="1150" dirty="0"/>
          </a:p>
        </p:txBody>
      </p:sp>
      <p:sp>
        <p:nvSpPr>
          <p:cNvPr id="9" name="Text 7"/>
          <p:cNvSpPr/>
          <p:nvPr/>
        </p:nvSpPr>
        <p:spPr>
          <a:xfrm>
            <a:off x="868680" y="1472184"/>
            <a:ext cx="4846320" cy="256032"/>
          </a:xfrm>
          <a:prstGeom prst="rect">
            <a:avLst/>
          </a:prstGeom>
          <a:noFill/>
          <a:ln/>
        </p:spPr>
        <p:txBody>
          <a:bodyPr wrap="square" lIns="0" tIns="0" rIns="0" bIns="0" rtlCol="0" anchor="ctr"/>
          <a:lstStyle/>
          <a:p>
            <a:r>
              <a:rPr lang="en-US" sz="1000" dirty="0">
                <a:solidFill>
                  <a:srgbClr val="1A1A2E"/>
                </a:solidFill>
                <a:latin typeface="Calibri" pitchFamily="34" charset="0"/>
                <a:ea typeface="Calibri" pitchFamily="34" charset="-122"/>
                <a:cs typeface="Calibri" pitchFamily="34" charset="-120"/>
              </a:rPr>
              <a:t>Action: </a:t>
            </a:r>
            <a:r>
              <a:rPr lang="en-US" sz="1000" dirty="0"/>
              <a:t>Launch milestone satisfaction surveys and escalate all low-tier (1–2) responses for urgent follow-up.</a:t>
            </a:r>
          </a:p>
        </p:txBody>
      </p:sp>
      <p:sp>
        <p:nvSpPr>
          <p:cNvPr id="10" name="Shape 8"/>
          <p:cNvSpPr/>
          <p:nvPr/>
        </p:nvSpPr>
        <p:spPr>
          <a:xfrm>
            <a:off x="5806440" y="1216152"/>
            <a:ext cx="2926080" cy="502920"/>
          </a:xfrm>
          <a:prstGeom prst="rect">
            <a:avLst/>
          </a:prstGeom>
          <a:solidFill>
            <a:srgbClr val="F0F5FB"/>
          </a:solidFill>
          <a:ln w="12700">
            <a:solidFill>
              <a:srgbClr val="1C4B82"/>
            </a:solidFill>
            <a:prstDash val="solid"/>
          </a:ln>
        </p:spPr>
        <p:txBody>
          <a:bodyPr/>
          <a:lstStyle/>
          <a:p>
            <a:endParaRPr lang="en-GB"/>
          </a:p>
        </p:txBody>
      </p:sp>
      <p:sp>
        <p:nvSpPr>
          <p:cNvPr id="11" name="Text 9"/>
          <p:cNvSpPr/>
          <p:nvPr/>
        </p:nvSpPr>
        <p:spPr>
          <a:xfrm>
            <a:off x="5897880" y="1234440"/>
            <a:ext cx="2743200" cy="457200"/>
          </a:xfrm>
          <a:prstGeom prst="rect">
            <a:avLst/>
          </a:prstGeom>
          <a:noFill/>
          <a:ln/>
        </p:spPr>
        <p:txBody>
          <a:bodyPr wrap="square" lIns="0" tIns="0" rIns="0" bIns="0" rtlCol="0" anchor="ctr"/>
          <a:lstStyle/>
          <a:p>
            <a:pPr marL="0" indent="0">
              <a:buNone/>
            </a:pPr>
            <a:r>
              <a:rPr lang="en-US" sz="1000" b="1" dirty="0">
                <a:solidFill>
                  <a:srgbClr val="1C4B82"/>
                </a:solidFill>
                <a:latin typeface="Calibri" pitchFamily="34" charset="0"/>
                <a:ea typeface="Calibri" pitchFamily="34" charset="-122"/>
                <a:cs typeface="Calibri" pitchFamily="34" charset="-120"/>
              </a:rPr>
              <a:t> Score-1→3 migration: estimated ~500 reduction in overall churn rate</a:t>
            </a:r>
            <a:endParaRPr lang="en-US" sz="1000" dirty="0"/>
          </a:p>
        </p:txBody>
      </p:sp>
      <p:sp>
        <p:nvSpPr>
          <p:cNvPr id="12" name="Shape 10"/>
          <p:cNvSpPr/>
          <p:nvPr/>
        </p:nvSpPr>
        <p:spPr>
          <a:xfrm>
            <a:off x="274320" y="1901952"/>
            <a:ext cx="8595360" cy="65836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13" name="Shape 11"/>
          <p:cNvSpPr/>
          <p:nvPr/>
        </p:nvSpPr>
        <p:spPr>
          <a:xfrm>
            <a:off x="274320" y="1901952"/>
            <a:ext cx="502920" cy="658368"/>
          </a:xfrm>
          <a:prstGeom prst="rect">
            <a:avLst/>
          </a:prstGeom>
          <a:solidFill>
            <a:srgbClr val="2E86AB"/>
          </a:solidFill>
          <a:ln/>
        </p:spPr>
        <p:txBody>
          <a:bodyPr/>
          <a:lstStyle/>
          <a:p>
            <a:endParaRPr lang="en-GB"/>
          </a:p>
        </p:txBody>
      </p:sp>
      <p:sp>
        <p:nvSpPr>
          <p:cNvPr id="14" name="Text 12"/>
          <p:cNvSpPr/>
          <p:nvPr/>
        </p:nvSpPr>
        <p:spPr>
          <a:xfrm>
            <a:off x="274320" y="1901952"/>
            <a:ext cx="50292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R2</a:t>
            </a:r>
            <a:endParaRPr lang="en-US" sz="1200" dirty="0"/>
          </a:p>
        </p:txBody>
      </p:sp>
      <p:sp>
        <p:nvSpPr>
          <p:cNvPr id="15" name="Text 13"/>
          <p:cNvSpPr/>
          <p:nvPr/>
        </p:nvSpPr>
        <p:spPr>
          <a:xfrm>
            <a:off x="868680" y="1956816"/>
            <a:ext cx="2560320" cy="274320"/>
          </a:xfrm>
          <a:prstGeom prst="rect">
            <a:avLst/>
          </a:prstGeom>
          <a:noFill/>
          <a:ln/>
        </p:spPr>
        <p:txBody>
          <a:bodyPr wrap="square" lIns="0" tIns="0" rIns="0" bIns="0" rtlCol="0" anchor="ctr"/>
          <a:lstStyle/>
          <a:p>
            <a:pPr marL="0" indent="0">
              <a:buNone/>
            </a:pPr>
            <a:r>
              <a:rPr lang="en-US" sz="1150" b="1" dirty="0">
                <a:solidFill>
                  <a:srgbClr val="1C4B82"/>
                </a:solidFill>
                <a:latin typeface="Calibri" pitchFamily="34" charset="0"/>
                <a:ea typeface="Calibri" pitchFamily="34" charset="-122"/>
                <a:cs typeface="Calibri" pitchFamily="34" charset="-120"/>
              </a:rPr>
              <a:t>Annual Contract Migration Campaign</a:t>
            </a:r>
            <a:endParaRPr lang="en-US" sz="1150" dirty="0"/>
          </a:p>
        </p:txBody>
      </p:sp>
      <p:sp>
        <p:nvSpPr>
          <p:cNvPr id="16" name="Text 14"/>
          <p:cNvSpPr/>
          <p:nvPr/>
        </p:nvSpPr>
        <p:spPr>
          <a:xfrm>
            <a:off x="868680" y="2231136"/>
            <a:ext cx="4846320" cy="256032"/>
          </a:xfrm>
          <a:prstGeom prst="rect">
            <a:avLst/>
          </a:prstGeom>
          <a:noFill/>
          <a:ln/>
        </p:spPr>
        <p:txBody>
          <a:bodyPr wrap="square" lIns="0" tIns="0" rIns="0" bIns="0" rtlCol="0" anchor="ctr"/>
          <a:lstStyle/>
          <a:p>
            <a:r>
              <a:rPr lang="en-US" sz="1000" dirty="0">
                <a:solidFill>
                  <a:srgbClr val="1A1A2E"/>
                </a:solidFill>
                <a:latin typeface="Calibri" pitchFamily="34" charset="0"/>
                <a:ea typeface="Calibri" pitchFamily="34" charset="-122"/>
                <a:cs typeface="Calibri" pitchFamily="34" charset="-120"/>
              </a:rPr>
              <a:t>Action: </a:t>
            </a:r>
            <a:r>
              <a:rPr lang="en-US" sz="1000" dirty="0"/>
              <a:t>Drive annual plan adoption within the moderate-risk segment through a mix of financial discounts and value-added feature unlocks.</a:t>
            </a:r>
          </a:p>
        </p:txBody>
      </p:sp>
      <p:sp>
        <p:nvSpPr>
          <p:cNvPr id="17" name="Shape 15"/>
          <p:cNvSpPr/>
          <p:nvPr/>
        </p:nvSpPr>
        <p:spPr>
          <a:xfrm>
            <a:off x="5806440" y="1975104"/>
            <a:ext cx="2926080" cy="502920"/>
          </a:xfrm>
          <a:prstGeom prst="rect">
            <a:avLst/>
          </a:prstGeom>
          <a:solidFill>
            <a:srgbClr val="F0F5FB"/>
          </a:solidFill>
          <a:ln w="12700">
            <a:solidFill>
              <a:srgbClr val="2E86AB"/>
            </a:solidFill>
            <a:prstDash val="solid"/>
          </a:ln>
        </p:spPr>
        <p:txBody>
          <a:bodyPr/>
          <a:lstStyle/>
          <a:p>
            <a:endParaRPr lang="en-GB"/>
          </a:p>
        </p:txBody>
      </p:sp>
      <p:sp>
        <p:nvSpPr>
          <p:cNvPr id="18" name="Text 16"/>
          <p:cNvSpPr/>
          <p:nvPr/>
        </p:nvSpPr>
        <p:spPr>
          <a:xfrm>
            <a:off x="5897880" y="1993392"/>
            <a:ext cx="2743200" cy="457200"/>
          </a:xfrm>
          <a:prstGeom prst="rect">
            <a:avLst/>
          </a:prstGeom>
          <a:noFill/>
          <a:ln/>
        </p:spPr>
        <p:txBody>
          <a:bodyPr wrap="square" lIns="0" tIns="0" rIns="0" bIns="0" rtlCol="0" anchor="ctr"/>
          <a:lstStyle/>
          <a:p>
            <a:pPr marL="0" indent="0">
              <a:buNone/>
            </a:pPr>
            <a:r>
              <a:rPr lang="en-US" sz="1000" b="1" dirty="0">
                <a:solidFill>
                  <a:srgbClr val="2E86AB"/>
                </a:solidFill>
                <a:latin typeface="Calibri" pitchFamily="34" charset="0"/>
                <a:ea typeface="Calibri" pitchFamily="34" charset="-122"/>
                <a:cs typeface="Calibri" pitchFamily="34" charset="-120"/>
              </a:rPr>
              <a:t> 20% migration → ~350 additional retained customers / year</a:t>
            </a:r>
            <a:endParaRPr lang="en-US" sz="1000" dirty="0"/>
          </a:p>
        </p:txBody>
      </p:sp>
      <p:sp>
        <p:nvSpPr>
          <p:cNvPr id="19" name="Shape 17"/>
          <p:cNvSpPr/>
          <p:nvPr/>
        </p:nvSpPr>
        <p:spPr>
          <a:xfrm>
            <a:off x="274320" y="2660904"/>
            <a:ext cx="8595360" cy="65836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20" name="Shape 18"/>
          <p:cNvSpPr/>
          <p:nvPr/>
        </p:nvSpPr>
        <p:spPr>
          <a:xfrm>
            <a:off x="274320" y="2660904"/>
            <a:ext cx="502920" cy="658368"/>
          </a:xfrm>
          <a:prstGeom prst="rect">
            <a:avLst/>
          </a:prstGeom>
          <a:solidFill>
            <a:srgbClr val="E84A5F"/>
          </a:solidFill>
          <a:ln/>
        </p:spPr>
        <p:txBody>
          <a:bodyPr/>
          <a:lstStyle/>
          <a:p>
            <a:endParaRPr lang="en-GB"/>
          </a:p>
        </p:txBody>
      </p:sp>
      <p:sp>
        <p:nvSpPr>
          <p:cNvPr id="21" name="Text 19"/>
          <p:cNvSpPr/>
          <p:nvPr/>
        </p:nvSpPr>
        <p:spPr>
          <a:xfrm>
            <a:off x="274320" y="2660904"/>
            <a:ext cx="50292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R3</a:t>
            </a:r>
            <a:endParaRPr lang="en-US" sz="1200" dirty="0"/>
          </a:p>
        </p:txBody>
      </p:sp>
      <p:sp>
        <p:nvSpPr>
          <p:cNvPr id="22" name="Text 20"/>
          <p:cNvSpPr/>
          <p:nvPr/>
        </p:nvSpPr>
        <p:spPr>
          <a:xfrm>
            <a:off x="868680" y="2715768"/>
            <a:ext cx="2560320" cy="274320"/>
          </a:xfrm>
          <a:prstGeom prst="rect">
            <a:avLst/>
          </a:prstGeom>
          <a:noFill/>
          <a:ln/>
        </p:spPr>
        <p:txBody>
          <a:bodyPr wrap="square" lIns="0" tIns="0" rIns="0" bIns="0" rtlCol="0" anchor="ctr"/>
          <a:lstStyle/>
          <a:p>
            <a:pPr marL="0" indent="0">
              <a:buNone/>
            </a:pPr>
            <a:r>
              <a:rPr lang="en-US" sz="1150" b="1" dirty="0">
                <a:solidFill>
                  <a:srgbClr val="1C4B82"/>
                </a:solidFill>
                <a:latin typeface="Calibri" pitchFamily="34" charset="0"/>
                <a:ea typeface="Calibri" pitchFamily="34" charset="-122"/>
                <a:cs typeface="Calibri" pitchFamily="34" charset="-120"/>
              </a:rPr>
              <a:t>High-Ticket Customer Rescue Programme</a:t>
            </a:r>
            <a:endParaRPr lang="en-US" sz="1150" dirty="0"/>
          </a:p>
        </p:txBody>
      </p:sp>
      <p:sp>
        <p:nvSpPr>
          <p:cNvPr id="23" name="Text 21"/>
          <p:cNvSpPr/>
          <p:nvPr/>
        </p:nvSpPr>
        <p:spPr>
          <a:xfrm>
            <a:off x="868680" y="2990088"/>
            <a:ext cx="4846320" cy="256032"/>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Action: Auto-trigger senior CSM rescue at 3rd support ticket; personalized service and support</a:t>
            </a:r>
            <a:endParaRPr lang="en-US" sz="1000" dirty="0"/>
          </a:p>
        </p:txBody>
      </p:sp>
      <p:sp>
        <p:nvSpPr>
          <p:cNvPr id="24" name="Shape 22"/>
          <p:cNvSpPr/>
          <p:nvPr/>
        </p:nvSpPr>
        <p:spPr>
          <a:xfrm>
            <a:off x="5806440" y="2734056"/>
            <a:ext cx="2926080" cy="502920"/>
          </a:xfrm>
          <a:prstGeom prst="rect">
            <a:avLst/>
          </a:prstGeom>
          <a:solidFill>
            <a:srgbClr val="F0F5FB"/>
          </a:solidFill>
          <a:ln w="12700">
            <a:solidFill>
              <a:srgbClr val="E84A5F"/>
            </a:solidFill>
            <a:prstDash val="solid"/>
          </a:ln>
        </p:spPr>
        <p:txBody>
          <a:bodyPr/>
          <a:lstStyle/>
          <a:p>
            <a:endParaRPr lang="en-GB"/>
          </a:p>
        </p:txBody>
      </p:sp>
      <p:sp>
        <p:nvSpPr>
          <p:cNvPr id="25" name="Text 23"/>
          <p:cNvSpPr/>
          <p:nvPr/>
        </p:nvSpPr>
        <p:spPr>
          <a:xfrm>
            <a:off x="5897880" y="2752344"/>
            <a:ext cx="2743200" cy="457200"/>
          </a:xfrm>
          <a:prstGeom prst="rect">
            <a:avLst/>
          </a:prstGeom>
          <a:noFill/>
          <a:ln/>
        </p:spPr>
        <p:txBody>
          <a:bodyPr wrap="square" lIns="0" tIns="0" rIns="0" bIns="0" rtlCol="0" anchor="ctr"/>
          <a:lstStyle/>
          <a:p>
            <a:pPr marL="0" indent="0">
              <a:buNone/>
            </a:pPr>
            <a:r>
              <a:rPr lang="en-US" sz="1000" b="1" dirty="0">
                <a:solidFill>
                  <a:srgbClr val="E84A5F"/>
                </a:solidFill>
                <a:latin typeface="Calibri" pitchFamily="34" charset="0"/>
                <a:ea typeface="Calibri" pitchFamily="34" charset="-122"/>
                <a:cs typeface="Calibri" pitchFamily="34" charset="-120"/>
              </a:rPr>
              <a:t>30% rescue rate → ~430 customers retained</a:t>
            </a:r>
            <a:endParaRPr lang="en-US" sz="1000" dirty="0"/>
          </a:p>
        </p:txBody>
      </p:sp>
      <p:sp>
        <p:nvSpPr>
          <p:cNvPr id="26" name="Shape 24"/>
          <p:cNvSpPr/>
          <p:nvPr/>
        </p:nvSpPr>
        <p:spPr>
          <a:xfrm>
            <a:off x="274320" y="3419856"/>
            <a:ext cx="8595360" cy="65836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27" name="Shape 25"/>
          <p:cNvSpPr/>
          <p:nvPr/>
        </p:nvSpPr>
        <p:spPr>
          <a:xfrm>
            <a:off x="274320" y="3419856"/>
            <a:ext cx="502920" cy="658368"/>
          </a:xfrm>
          <a:prstGeom prst="rect">
            <a:avLst/>
          </a:prstGeom>
          <a:solidFill>
            <a:srgbClr val="D97706"/>
          </a:solidFill>
          <a:ln/>
        </p:spPr>
        <p:txBody>
          <a:bodyPr/>
          <a:lstStyle/>
          <a:p>
            <a:endParaRPr lang="en-GB"/>
          </a:p>
        </p:txBody>
      </p:sp>
      <p:sp>
        <p:nvSpPr>
          <p:cNvPr id="28" name="Text 26"/>
          <p:cNvSpPr/>
          <p:nvPr/>
        </p:nvSpPr>
        <p:spPr>
          <a:xfrm>
            <a:off x="274320" y="3419856"/>
            <a:ext cx="50292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R4</a:t>
            </a:r>
            <a:endParaRPr lang="en-US" sz="1200" dirty="0"/>
          </a:p>
        </p:txBody>
      </p:sp>
      <p:sp>
        <p:nvSpPr>
          <p:cNvPr id="29" name="Text 27"/>
          <p:cNvSpPr/>
          <p:nvPr/>
        </p:nvSpPr>
        <p:spPr>
          <a:xfrm>
            <a:off x="868680" y="3474720"/>
            <a:ext cx="2560320" cy="274320"/>
          </a:xfrm>
          <a:prstGeom prst="rect">
            <a:avLst/>
          </a:prstGeom>
          <a:noFill/>
          <a:ln/>
        </p:spPr>
        <p:txBody>
          <a:bodyPr wrap="square" lIns="0" tIns="0" rIns="0" bIns="0" rtlCol="0" anchor="ctr"/>
          <a:lstStyle/>
          <a:p>
            <a:pPr marL="0" indent="0">
              <a:buNone/>
            </a:pPr>
            <a:r>
              <a:rPr lang="en-US" sz="1150" b="1" dirty="0">
                <a:solidFill>
                  <a:srgbClr val="1C4B82"/>
                </a:solidFill>
                <a:latin typeface="Calibri" pitchFamily="34" charset="0"/>
                <a:ea typeface="Calibri" pitchFamily="34" charset="-122"/>
                <a:cs typeface="Calibri" pitchFamily="34" charset="-120"/>
              </a:rPr>
              <a:t>Automated Login Re-Engagement System</a:t>
            </a:r>
            <a:endParaRPr lang="en-US" sz="1150" dirty="0"/>
          </a:p>
        </p:txBody>
      </p:sp>
      <p:sp>
        <p:nvSpPr>
          <p:cNvPr id="30" name="Text 28"/>
          <p:cNvSpPr/>
          <p:nvPr/>
        </p:nvSpPr>
        <p:spPr>
          <a:xfrm>
            <a:off x="868680" y="3648456"/>
            <a:ext cx="4846320" cy="442478"/>
          </a:xfrm>
          <a:prstGeom prst="rect">
            <a:avLst/>
          </a:prstGeom>
          <a:noFill/>
          <a:ln/>
        </p:spPr>
        <p:txBody>
          <a:bodyPr wrap="square" lIns="0" tIns="0" rIns="0" bIns="0" rtlCol="0" anchor="ctr"/>
          <a:lstStyle/>
          <a:p>
            <a:r>
              <a:rPr lang="en-US" sz="1000" dirty="0">
                <a:solidFill>
                  <a:srgbClr val="1A1A2E"/>
                </a:solidFill>
                <a:latin typeface="Calibri" pitchFamily="34" charset="0"/>
                <a:ea typeface="Calibri" pitchFamily="34" charset="-122"/>
                <a:cs typeface="Calibri" pitchFamily="34" charset="-120"/>
              </a:rPr>
              <a:t>Action: </a:t>
            </a:r>
            <a:r>
              <a:rPr lang="en-US" sz="1000" dirty="0"/>
              <a:t>Our re-engagement strategy involves tiered interventions: notifications at day 14, CSM calls at day 30, and specialized offers at day 60.</a:t>
            </a:r>
          </a:p>
        </p:txBody>
      </p:sp>
      <p:sp>
        <p:nvSpPr>
          <p:cNvPr id="31" name="Shape 29"/>
          <p:cNvSpPr/>
          <p:nvPr/>
        </p:nvSpPr>
        <p:spPr>
          <a:xfrm>
            <a:off x="5806440" y="3493008"/>
            <a:ext cx="2926080" cy="502920"/>
          </a:xfrm>
          <a:prstGeom prst="rect">
            <a:avLst/>
          </a:prstGeom>
          <a:solidFill>
            <a:srgbClr val="F0F5FB"/>
          </a:solidFill>
          <a:ln w="12700">
            <a:solidFill>
              <a:srgbClr val="D97706"/>
            </a:solidFill>
            <a:prstDash val="solid"/>
          </a:ln>
        </p:spPr>
        <p:txBody>
          <a:bodyPr/>
          <a:lstStyle/>
          <a:p>
            <a:endParaRPr lang="en-GB"/>
          </a:p>
        </p:txBody>
      </p:sp>
      <p:sp>
        <p:nvSpPr>
          <p:cNvPr id="32" name="Text 30"/>
          <p:cNvSpPr/>
          <p:nvPr/>
        </p:nvSpPr>
        <p:spPr>
          <a:xfrm>
            <a:off x="5897880" y="3511296"/>
            <a:ext cx="2743200" cy="457200"/>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5% recovery rate → 150+ customers retained per cycle, compounding annually</a:t>
            </a:r>
            <a:endParaRPr lang="en-US" sz="1000" dirty="0"/>
          </a:p>
        </p:txBody>
      </p:sp>
      <p:sp>
        <p:nvSpPr>
          <p:cNvPr id="33" name="Shape 31"/>
          <p:cNvSpPr/>
          <p:nvPr/>
        </p:nvSpPr>
        <p:spPr>
          <a:xfrm>
            <a:off x="274320" y="4178808"/>
            <a:ext cx="8595360" cy="658368"/>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GB"/>
          </a:p>
        </p:txBody>
      </p:sp>
      <p:sp>
        <p:nvSpPr>
          <p:cNvPr id="34" name="Shape 32"/>
          <p:cNvSpPr/>
          <p:nvPr/>
        </p:nvSpPr>
        <p:spPr>
          <a:xfrm>
            <a:off x="274320" y="4178808"/>
            <a:ext cx="502920" cy="658368"/>
          </a:xfrm>
          <a:prstGeom prst="rect">
            <a:avLst/>
          </a:prstGeom>
          <a:solidFill>
            <a:srgbClr val="028090"/>
          </a:solidFill>
          <a:ln/>
        </p:spPr>
        <p:txBody>
          <a:bodyPr/>
          <a:lstStyle/>
          <a:p>
            <a:endParaRPr lang="en-GB"/>
          </a:p>
        </p:txBody>
      </p:sp>
      <p:sp>
        <p:nvSpPr>
          <p:cNvPr id="35" name="Text 33"/>
          <p:cNvSpPr/>
          <p:nvPr/>
        </p:nvSpPr>
        <p:spPr>
          <a:xfrm>
            <a:off x="274320" y="4178808"/>
            <a:ext cx="50292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R5</a:t>
            </a:r>
            <a:endParaRPr lang="en-US" sz="1200" dirty="0"/>
          </a:p>
        </p:txBody>
      </p:sp>
      <p:sp>
        <p:nvSpPr>
          <p:cNvPr id="36" name="Text 34"/>
          <p:cNvSpPr/>
          <p:nvPr/>
        </p:nvSpPr>
        <p:spPr>
          <a:xfrm>
            <a:off x="868680" y="4233672"/>
            <a:ext cx="2560320" cy="274320"/>
          </a:xfrm>
          <a:prstGeom prst="rect">
            <a:avLst/>
          </a:prstGeom>
          <a:noFill/>
          <a:ln/>
        </p:spPr>
        <p:txBody>
          <a:bodyPr wrap="square" lIns="0" tIns="0" rIns="0" bIns="0" rtlCol="0" anchor="ctr"/>
          <a:lstStyle/>
          <a:p>
            <a:pPr marL="0" indent="0">
              <a:buNone/>
            </a:pPr>
            <a:r>
              <a:rPr lang="en-US" sz="1150" b="1" dirty="0">
                <a:solidFill>
                  <a:srgbClr val="1C4B82"/>
                </a:solidFill>
                <a:latin typeface="Calibri" pitchFamily="34" charset="0"/>
                <a:ea typeface="Calibri" pitchFamily="34" charset="-122"/>
                <a:cs typeface="Calibri" pitchFamily="34" charset="-120"/>
              </a:rPr>
              <a:t>90-Day Structured Onboarding</a:t>
            </a:r>
            <a:endParaRPr lang="en-US" sz="1150" dirty="0"/>
          </a:p>
        </p:txBody>
      </p:sp>
      <p:sp>
        <p:nvSpPr>
          <p:cNvPr id="37" name="Text 35"/>
          <p:cNvSpPr/>
          <p:nvPr/>
        </p:nvSpPr>
        <p:spPr>
          <a:xfrm>
            <a:off x="868680" y="4507992"/>
            <a:ext cx="4846320" cy="256032"/>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Action: welcome call </a:t>
            </a:r>
            <a:r>
              <a:rPr lang="en-GB" sz="1000" dirty="0">
                <a:solidFill>
                  <a:srgbClr val="1A1A2E"/>
                </a:solidFill>
                <a:latin typeface="Calibri" pitchFamily="34" charset="0"/>
                <a:ea typeface="Calibri" pitchFamily="34" charset="-122"/>
                <a:cs typeface="Calibri" pitchFamily="34" charset="-120"/>
              </a:rPr>
              <a:t>to</a:t>
            </a:r>
            <a:r>
              <a:rPr lang="zh-CN" altLang="en-US" sz="1000" dirty="0">
                <a:solidFill>
                  <a:srgbClr val="1A1A2E"/>
                </a:solidFill>
                <a:latin typeface="Calibri" pitchFamily="34" charset="0"/>
                <a:ea typeface="Calibri" pitchFamily="34" charset="-122"/>
                <a:cs typeface="Calibri" pitchFamily="34" charset="-120"/>
              </a:rPr>
              <a:t> </a:t>
            </a:r>
            <a:r>
              <a:rPr lang="en-GB" altLang="zh-CN" sz="1000" dirty="0">
                <a:solidFill>
                  <a:srgbClr val="1A1A2E"/>
                </a:solidFill>
                <a:latin typeface="Calibri" pitchFamily="34" charset="0"/>
                <a:ea typeface="Calibri" pitchFamily="34" charset="-122"/>
                <a:cs typeface="Calibri" pitchFamily="34" charset="-120"/>
              </a:rPr>
              <a:t>engage customers</a:t>
            </a:r>
            <a:r>
              <a:rPr lang="en-US" sz="1000" dirty="0">
                <a:solidFill>
                  <a:srgbClr val="1A1A2E"/>
                </a:solidFill>
                <a:latin typeface="Calibri" pitchFamily="34" charset="0"/>
                <a:ea typeface="Calibri" pitchFamily="34" charset="-122"/>
                <a:cs typeface="Calibri" pitchFamily="34" charset="-120"/>
              </a:rPr>
              <a:t>, 30/60/90-day check-ins, satisfaction survey</a:t>
            </a:r>
            <a:endParaRPr lang="en-US" sz="1000" dirty="0"/>
          </a:p>
        </p:txBody>
      </p:sp>
      <p:sp>
        <p:nvSpPr>
          <p:cNvPr id="38" name="Shape 36"/>
          <p:cNvSpPr/>
          <p:nvPr/>
        </p:nvSpPr>
        <p:spPr>
          <a:xfrm>
            <a:off x="5806440" y="4251960"/>
            <a:ext cx="2926080" cy="502920"/>
          </a:xfrm>
          <a:prstGeom prst="rect">
            <a:avLst/>
          </a:prstGeom>
          <a:solidFill>
            <a:srgbClr val="F0F5FB"/>
          </a:solidFill>
          <a:ln w="12700">
            <a:solidFill>
              <a:srgbClr val="028090"/>
            </a:solidFill>
            <a:prstDash val="solid"/>
          </a:ln>
        </p:spPr>
        <p:txBody>
          <a:bodyPr/>
          <a:lstStyle/>
          <a:p>
            <a:endParaRPr lang="en-GB"/>
          </a:p>
        </p:txBody>
      </p:sp>
      <p:sp>
        <p:nvSpPr>
          <p:cNvPr id="39" name="Text 37"/>
          <p:cNvSpPr/>
          <p:nvPr/>
        </p:nvSpPr>
        <p:spPr>
          <a:xfrm>
            <a:off x="5897880" y="4270248"/>
            <a:ext cx="2743200" cy="457200"/>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20% early churn reduction for new subscribers (~180)</a:t>
            </a:r>
            <a:endParaRPr lang="en-US" sz="1000" dirty="0"/>
          </a:p>
        </p:txBody>
      </p:sp>
      <p:sp>
        <p:nvSpPr>
          <p:cNvPr id="40" name="TextBox 39">
            <a:extLst>
              <a:ext uri="{FF2B5EF4-FFF2-40B4-BE49-F238E27FC236}">
                <a16:creationId xmlns:a16="http://schemas.microsoft.com/office/drawing/2014/main" id="{648396B6-CBEC-60DC-4C59-5C990BAD500A}"/>
              </a:ext>
            </a:extLst>
          </p:cNvPr>
          <p:cNvSpPr txBox="1"/>
          <p:nvPr/>
        </p:nvSpPr>
        <p:spPr>
          <a:xfrm>
            <a:off x="4727511" y="4849886"/>
            <a:ext cx="4142170" cy="261610"/>
          </a:xfrm>
          <a:prstGeom prst="rect">
            <a:avLst/>
          </a:prstGeom>
          <a:noFill/>
        </p:spPr>
        <p:txBody>
          <a:bodyPr wrap="square" rtlCol="0">
            <a:spAutoFit/>
          </a:bodyPr>
          <a:lstStyle/>
          <a:p>
            <a:r>
              <a:rPr lang="en-US" sz="1100" dirty="0"/>
              <a:t>Note: The impact estimation is available in the appendix on GitHub</a:t>
            </a:r>
            <a:endParaRPr lang="en-GB"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C4B82"/>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4A5F"/>
          </a:solidFill>
          <a:ln/>
        </p:spPr>
        <p:txBody>
          <a:bodyPr/>
          <a:lstStyle/>
          <a:p>
            <a:endParaRPr lang="en-GB"/>
          </a:p>
        </p:txBody>
      </p:sp>
      <p:sp>
        <p:nvSpPr>
          <p:cNvPr id="3" name="Shape 1"/>
          <p:cNvSpPr/>
          <p:nvPr/>
        </p:nvSpPr>
        <p:spPr>
          <a:xfrm>
            <a:off x="5943600" y="-457200"/>
            <a:ext cx="4572000" cy="4572000"/>
          </a:xfrm>
          <a:prstGeom prst="ellipse">
            <a:avLst/>
          </a:prstGeom>
          <a:solidFill>
            <a:srgbClr val="FFFFFF">
              <a:alpha val="6000"/>
            </a:srgbClr>
          </a:solidFill>
          <a:ln w="12700">
            <a:solidFill>
              <a:srgbClr val="FFFFFF"/>
            </a:solidFill>
            <a:prstDash val="solid"/>
          </a:ln>
        </p:spPr>
        <p:txBody>
          <a:bodyPr/>
          <a:lstStyle/>
          <a:p>
            <a:endParaRPr lang="en-GB"/>
          </a:p>
        </p:txBody>
      </p:sp>
      <p:sp>
        <p:nvSpPr>
          <p:cNvPr id="4" name="Text 2"/>
          <p:cNvSpPr/>
          <p:nvPr/>
        </p:nvSpPr>
        <p:spPr>
          <a:xfrm>
            <a:off x="411480" y="45720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5" name="Shape 3"/>
          <p:cNvSpPr/>
          <p:nvPr/>
        </p:nvSpPr>
        <p:spPr>
          <a:xfrm>
            <a:off x="411480" y="1097280"/>
            <a:ext cx="3657600" cy="36576"/>
          </a:xfrm>
          <a:prstGeom prst="rect">
            <a:avLst/>
          </a:prstGeom>
          <a:solidFill>
            <a:srgbClr val="E84A5F"/>
          </a:solidFill>
          <a:ln/>
        </p:spPr>
        <p:txBody>
          <a:bodyPr/>
          <a:lstStyle/>
          <a:p>
            <a:endParaRPr lang="en-GB"/>
          </a:p>
        </p:txBody>
      </p:sp>
      <p:sp>
        <p:nvSpPr>
          <p:cNvPr id="6" name="Shape 4"/>
          <p:cNvSpPr/>
          <p:nvPr/>
        </p:nvSpPr>
        <p:spPr>
          <a:xfrm>
            <a:off x="438912" y="1280160"/>
            <a:ext cx="256032" cy="256032"/>
          </a:xfrm>
          <a:prstGeom prst="ellipse">
            <a:avLst/>
          </a:prstGeom>
          <a:solidFill>
            <a:srgbClr val="E84A5F"/>
          </a:solidFill>
          <a:ln w="12700">
            <a:solidFill>
              <a:srgbClr val="E84A5F"/>
            </a:solidFill>
            <a:prstDash val="solid"/>
          </a:ln>
        </p:spPr>
        <p:txBody>
          <a:bodyPr/>
          <a:lstStyle/>
          <a:p>
            <a:endParaRPr lang="en-GB"/>
          </a:p>
        </p:txBody>
      </p:sp>
      <p:sp>
        <p:nvSpPr>
          <p:cNvPr id="7" name="Text 5"/>
          <p:cNvSpPr/>
          <p:nvPr/>
        </p:nvSpPr>
        <p:spPr>
          <a:xfrm>
            <a:off x="438912" y="128016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04672" y="1280160"/>
            <a:ext cx="80467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Satisfaction score is the #1 driver — every point increase reduces churn odds by 76%</a:t>
            </a:r>
            <a:endParaRPr lang="en-US" sz="1300" dirty="0"/>
          </a:p>
        </p:txBody>
      </p:sp>
      <p:sp>
        <p:nvSpPr>
          <p:cNvPr id="9" name="Shape 7"/>
          <p:cNvSpPr/>
          <p:nvPr/>
        </p:nvSpPr>
        <p:spPr>
          <a:xfrm>
            <a:off x="438912" y="1965960"/>
            <a:ext cx="256032" cy="256032"/>
          </a:xfrm>
          <a:prstGeom prst="ellipse">
            <a:avLst/>
          </a:prstGeom>
          <a:solidFill>
            <a:srgbClr val="E84A5F"/>
          </a:solidFill>
          <a:ln w="12700">
            <a:solidFill>
              <a:srgbClr val="E84A5F"/>
            </a:solidFill>
            <a:prstDash val="solid"/>
          </a:ln>
        </p:spPr>
        <p:txBody>
          <a:bodyPr/>
          <a:lstStyle/>
          <a:p>
            <a:endParaRPr lang="en-GB"/>
          </a:p>
        </p:txBody>
      </p:sp>
      <p:sp>
        <p:nvSpPr>
          <p:cNvPr id="10" name="Text 8"/>
          <p:cNvSpPr/>
          <p:nvPr/>
        </p:nvSpPr>
        <p:spPr>
          <a:xfrm>
            <a:off x="438912" y="196596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804672" y="1965960"/>
            <a:ext cx="80467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Annual contracts reduce churn 76% — a structural fix management can implement to mitigate churn</a:t>
            </a:r>
            <a:endParaRPr lang="en-US" sz="1300" dirty="0"/>
          </a:p>
        </p:txBody>
      </p:sp>
      <p:sp>
        <p:nvSpPr>
          <p:cNvPr id="12" name="Shape 10"/>
          <p:cNvSpPr/>
          <p:nvPr/>
        </p:nvSpPr>
        <p:spPr>
          <a:xfrm>
            <a:off x="438912" y="2651760"/>
            <a:ext cx="256032" cy="256032"/>
          </a:xfrm>
          <a:prstGeom prst="ellipse">
            <a:avLst/>
          </a:prstGeom>
          <a:solidFill>
            <a:srgbClr val="E84A5F"/>
          </a:solidFill>
          <a:ln w="12700">
            <a:solidFill>
              <a:srgbClr val="E84A5F"/>
            </a:solidFill>
            <a:prstDash val="solid"/>
          </a:ln>
        </p:spPr>
        <p:txBody>
          <a:bodyPr/>
          <a:lstStyle/>
          <a:p>
            <a:endParaRPr lang="en-GB"/>
          </a:p>
        </p:txBody>
      </p:sp>
      <p:sp>
        <p:nvSpPr>
          <p:cNvPr id="13" name="Text 11"/>
          <p:cNvSpPr/>
          <p:nvPr/>
        </p:nvSpPr>
        <p:spPr>
          <a:xfrm>
            <a:off x="438912" y="265176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804672" y="2651760"/>
            <a:ext cx="80467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Support tickets number signal frustration — 3+ tickets implies crisis-level intervention needed</a:t>
            </a:r>
            <a:endParaRPr lang="en-US" sz="1300" dirty="0"/>
          </a:p>
        </p:txBody>
      </p:sp>
      <p:sp>
        <p:nvSpPr>
          <p:cNvPr id="15" name="Shape 13"/>
          <p:cNvSpPr/>
          <p:nvPr/>
        </p:nvSpPr>
        <p:spPr>
          <a:xfrm>
            <a:off x="438912" y="3337560"/>
            <a:ext cx="256032" cy="256032"/>
          </a:xfrm>
          <a:prstGeom prst="ellipse">
            <a:avLst/>
          </a:prstGeom>
          <a:solidFill>
            <a:srgbClr val="E84A5F"/>
          </a:solidFill>
          <a:ln w="12700">
            <a:solidFill>
              <a:srgbClr val="E84A5F"/>
            </a:solidFill>
            <a:prstDash val="solid"/>
          </a:ln>
        </p:spPr>
        <p:txBody>
          <a:bodyPr/>
          <a:lstStyle/>
          <a:p>
            <a:endParaRPr lang="en-GB"/>
          </a:p>
        </p:txBody>
      </p:sp>
      <p:sp>
        <p:nvSpPr>
          <p:cNvPr id="16" name="Text 14"/>
          <p:cNvSpPr/>
          <p:nvPr/>
        </p:nvSpPr>
        <p:spPr>
          <a:xfrm>
            <a:off x="438912" y="333756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804672" y="3337560"/>
            <a:ext cx="80467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Login recency is a detectable, real-time churn signal requiring automated triggers</a:t>
            </a:r>
            <a:endParaRPr lang="en-US" sz="1300" dirty="0"/>
          </a:p>
        </p:txBody>
      </p:sp>
      <p:sp>
        <p:nvSpPr>
          <p:cNvPr id="18" name="Shape 16"/>
          <p:cNvSpPr/>
          <p:nvPr/>
        </p:nvSpPr>
        <p:spPr>
          <a:xfrm>
            <a:off x="438912" y="4023360"/>
            <a:ext cx="256032" cy="256032"/>
          </a:xfrm>
          <a:prstGeom prst="ellipse">
            <a:avLst/>
          </a:prstGeom>
          <a:solidFill>
            <a:srgbClr val="E84A5F"/>
          </a:solidFill>
          <a:ln w="12700">
            <a:solidFill>
              <a:srgbClr val="E84A5F"/>
            </a:solidFill>
            <a:prstDash val="solid"/>
          </a:ln>
        </p:spPr>
        <p:txBody>
          <a:bodyPr/>
          <a:lstStyle/>
          <a:p>
            <a:endParaRPr lang="en-GB"/>
          </a:p>
        </p:txBody>
      </p:sp>
      <p:sp>
        <p:nvSpPr>
          <p:cNvPr id="19" name="Text 17"/>
          <p:cNvSpPr/>
          <p:nvPr/>
        </p:nvSpPr>
        <p:spPr>
          <a:xfrm>
            <a:off x="438912" y="4023360"/>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804672" y="4023360"/>
            <a:ext cx="80467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New subscribers are highest-risk — </a:t>
            </a:r>
            <a:r>
              <a:rPr lang="en-US" altLang="zh-CN" sz="1300" dirty="0">
                <a:solidFill>
                  <a:srgbClr val="FFFFFF"/>
                </a:solidFill>
                <a:latin typeface="Calibri" pitchFamily="34" charset="0"/>
                <a:ea typeface="Calibri" pitchFamily="34" charset="-122"/>
                <a:cs typeface="Calibri" pitchFamily="34" charset="-120"/>
              </a:rPr>
              <a:t>The first </a:t>
            </a:r>
            <a:r>
              <a:rPr lang="en-US" sz="1300" dirty="0">
                <a:solidFill>
                  <a:srgbClr val="FFFFFF"/>
                </a:solidFill>
                <a:latin typeface="Calibri" pitchFamily="34" charset="0"/>
                <a:ea typeface="Calibri" pitchFamily="34" charset="-122"/>
                <a:cs typeface="Calibri" pitchFamily="34" charset="-120"/>
              </a:rPr>
              <a:t>90-day </a:t>
            </a:r>
            <a:r>
              <a:rPr lang="en-US" altLang="zh-CN" sz="1300" dirty="0">
                <a:solidFill>
                  <a:srgbClr val="FFFFFF"/>
                </a:solidFill>
                <a:latin typeface="Calibri" pitchFamily="34" charset="0"/>
                <a:ea typeface="Calibri" pitchFamily="34" charset="-122"/>
                <a:cs typeface="Calibri" pitchFamily="34" charset="-120"/>
              </a:rPr>
              <a:t>of</a:t>
            </a:r>
            <a:r>
              <a:rPr lang="en-US" sz="1300" dirty="0">
                <a:solidFill>
                  <a:srgbClr val="FFFFFF"/>
                </a:solidFill>
                <a:latin typeface="Calibri" pitchFamily="34" charset="0"/>
                <a:ea typeface="Calibri" pitchFamily="34" charset="-122"/>
                <a:cs typeface="Calibri" pitchFamily="34" charset="-120"/>
              </a:rPr>
              <a:t> onboarding is the most </a:t>
            </a:r>
            <a:r>
              <a:rPr lang="en-US" altLang="zh-CN" sz="1300" dirty="0">
                <a:solidFill>
                  <a:srgbClr val="FFFFFF"/>
                </a:solidFill>
                <a:latin typeface="Calibri" pitchFamily="34" charset="0"/>
                <a:ea typeface="Calibri" pitchFamily="34" charset="-122"/>
                <a:cs typeface="Calibri" pitchFamily="34" charset="-120"/>
              </a:rPr>
              <a:t>critical</a:t>
            </a:r>
            <a:r>
              <a:rPr lang="en-US" sz="1300" dirty="0">
                <a:solidFill>
                  <a:srgbClr val="FFFFFF"/>
                </a:solidFill>
                <a:latin typeface="Calibri" pitchFamily="34" charset="0"/>
                <a:ea typeface="Calibri" pitchFamily="34" charset="-122"/>
                <a:cs typeface="Calibri" pitchFamily="34" charset="-120"/>
              </a:rPr>
              <a:t> periods for customers </a:t>
            </a:r>
            <a:r>
              <a:rPr lang="en-US" altLang="zh-CN" sz="1300" dirty="0">
                <a:solidFill>
                  <a:srgbClr val="FFFFFF"/>
                </a:solidFill>
                <a:latin typeface="Calibri" pitchFamily="34" charset="0"/>
                <a:ea typeface="Calibri" pitchFamily="34" charset="-122"/>
                <a:cs typeface="Calibri" pitchFamily="34" charset="-120"/>
              </a:rPr>
              <a:t>retention</a:t>
            </a:r>
            <a:r>
              <a:rPr lang="zh-CN" altLang="en-US" sz="1300" dirty="0">
                <a:solidFill>
                  <a:srgbClr val="FFFFFF"/>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411480" y="4709160"/>
            <a:ext cx="8321040" cy="274320"/>
          </a:xfrm>
          <a:prstGeom prst="rect">
            <a:avLst/>
          </a:prstGeom>
          <a:solidFill>
            <a:srgbClr val="FFFFFF">
              <a:alpha val="15000"/>
            </a:srgbClr>
          </a:solidFill>
          <a:ln w="12700">
            <a:solidFill>
              <a:srgbClr val="FFFFFF"/>
            </a:solidFill>
            <a:prstDash val="solid"/>
          </a:ln>
        </p:spPr>
        <p:txBody>
          <a:bodyPr/>
          <a:lstStyle/>
          <a:p>
            <a:endParaRPr lang="en-GB"/>
          </a:p>
        </p:txBody>
      </p:sp>
      <p:sp>
        <p:nvSpPr>
          <p:cNvPr id="22" name="Text 20"/>
          <p:cNvSpPr/>
          <p:nvPr/>
        </p:nvSpPr>
        <p:spPr>
          <a:xfrm>
            <a:off x="457200" y="4718304"/>
            <a:ext cx="8229600" cy="256032"/>
          </a:xfrm>
          <a:prstGeom prst="rect">
            <a:avLst/>
          </a:prstGeom>
          <a:noFill/>
          <a:ln/>
        </p:spPr>
        <p:txBody>
          <a:bodyPr wrap="square" lIns="0" tIns="0" rIns="0" bIns="0" rtlCol="0" anchor="ctr"/>
          <a:lstStyle/>
          <a:p>
            <a:pPr marL="0" indent="0" algn="ctr">
              <a:buNone/>
            </a:pPr>
            <a:r>
              <a:rPr lang="en-US" sz="950" dirty="0">
                <a:solidFill>
                  <a:srgbClr val="8AADD4"/>
                </a:solidFill>
                <a:latin typeface="Calibri" pitchFamily="34" charset="0"/>
                <a:ea typeface="Calibri" pitchFamily="34" charset="-122"/>
                <a:cs typeface="Calibri" pitchFamily="34" charset="-120"/>
              </a:rPr>
              <a:t>Model: Logistic Regression  |  AUC = 0.973  |  Pseudo-R² = 0.692  |  N = 15,000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69E1A-3E39-47A5-48B2-9D38B9B2F20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F3C379-D77E-E7C8-0407-C081F64A3BEB}"/>
              </a:ext>
            </a:extLst>
          </p:cNvPr>
          <p:cNvSpPr/>
          <p:nvPr/>
        </p:nvSpPr>
        <p:spPr>
          <a:xfrm>
            <a:off x="0" y="0"/>
            <a:ext cx="9144000" cy="629322"/>
          </a:xfrm>
          <a:prstGeom prst="rect">
            <a:avLst/>
          </a:prstGeom>
          <a:solidFill>
            <a:srgbClr val="1C4B82"/>
          </a:solidFill>
          <a:ln/>
        </p:spPr>
        <p:txBody>
          <a:bodyPr numCol="2"/>
          <a:lstStyle/>
          <a:p>
            <a:r>
              <a:rPr lang="en-US" altLang="zh-CN" sz="2800" b="1" dirty="0">
                <a:solidFill>
                  <a:srgbClr val="FFFFFF"/>
                </a:solidFill>
                <a:latin typeface="Calibri" pitchFamily="34" charset="0"/>
                <a:ea typeface="Calibri" pitchFamily="34" charset="-122"/>
                <a:cs typeface="Calibri" pitchFamily="34" charset="-120"/>
              </a:rPr>
              <a:t>AI DISCLARMER</a:t>
            </a:r>
            <a:endParaRPr lang="en-GB" sz="2800" b="1" dirty="0">
              <a:solidFill>
                <a:srgbClr val="FFFFFF"/>
              </a:solidFill>
              <a:latin typeface="Calibri" pitchFamily="34" charset="0"/>
              <a:ea typeface="Calibri" pitchFamily="34" charset="-122"/>
              <a:cs typeface="Calibri" pitchFamily="34" charset="-120"/>
            </a:endParaRPr>
          </a:p>
        </p:txBody>
      </p:sp>
      <p:sp>
        <p:nvSpPr>
          <p:cNvPr id="4" name="TextBox 3">
            <a:extLst>
              <a:ext uri="{FF2B5EF4-FFF2-40B4-BE49-F238E27FC236}">
                <a16:creationId xmlns:a16="http://schemas.microsoft.com/office/drawing/2014/main" id="{B42AAFB8-BA4E-2198-0271-E239B73AF9D3}"/>
              </a:ext>
            </a:extLst>
          </p:cNvPr>
          <p:cNvSpPr txBox="1"/>
          <p:nvPr/>
        </p:nvSpPr>
        <p:spPr>
          <a:xfrm>
            <a:off x="199016" y="809087"/>
            <a:ext cx="8444753" cy="3416320"/>
          </a:xfrm>
          <a:prstGeom prst="rect">
            <a:avLst/>
          </a:prstGeom>
          <a:noFill/>
        </p:spPr>
        <p:txBody>
          <a:bodyPr wrap="square">
            <a:spAutoFit/>
          </a:bodyPr>
          <a:lstStyle/>
          <a:p>
            <a:r>
              <a:rPr lang="en-US" dirty="0">
                <a:solidFill>
                  <a:srgbClr val="000000"/>
                </a:solidFill>
                <a:latin typeface="Open Sauce"/>
                <a:ea typeface="Open Sauce"/>
                <a:cs typeface="Open Sauce"/>
                <a:sym typeface="Open Sauce"/>
              </a:rPr>
              <a:t>This presentation was developed by the author using the case materials, dataset and AI tools. ChatGPT and AI tool were used to provide guides, review the draft, provide feedback on clarity and structure, suggest edits for grammar and presentation flow, assist with formatting references in APA 7th edition, and support the generation of the presentation. All research, data preparation, quantitative analysis, visualizations, interpretations, and recommendations were conducted by the author with the assistance of AI. The author have reviewed and refined the whole output to ensure it aligns with the author’s perspective, therefore, the author is solely responsible for the content and conclusions. Use of AI was conducted in alignment with Hult’s AI policy (including appropriate disclosure and maintaining academic integrity).</a:t>
            </a:r>
          </a:p>
          <a:p>
            <a:endParaRPr lang="en-GB" dirty="0"/>
          </a:p>
        </p:txBody>
      </p:sp>
    </p:spTree>
    <p:extLst>
      <p:ext uri="{BB962C8B-B14F-4D97-AF65-F5344CB8AC3E}">
        <p14:creationId xmlns:p14="http://schemas.microsoft.com/office/powerpoint/2010/main" val="793211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AFBFD"/>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475569"/>
          </a:solidFill>
          <a:ln/>
        </p:spPr>
        <p:txBody>
          <a:bodyPr/>
          <a:lstStyle/>
          <a:p>
            <a:endParaRPr lang="en-GB"/>
          </a:p>
        </p:txBody>
      </p:sp>
      <p:sp>
        <p:nvSpPr>
          <p:cNvPr id="3" name="Text 1"/>
          <p:cNvSpPr/>
          <p:nvPr/>
        </p:nvSpPr>
        <p:spPr>
          <a:xfrm>
            <a:off x="365760" y="137160"/>
            <a:ext cx="8412480" cy="7772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Appendix — Full Regression Table</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28600" y="1097280"/>
          <a:ext cx="7223760" cy="3909060"/>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tblGrid>
              <a:tr h="26060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1C4B8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Coefficient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1C4B8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Std. Error</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1C4B8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z-stat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1C4B8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p-value</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1C4B8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Odds Ratio</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1C4B8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Sig.</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1C4B82"/>
                    </a:solidFill>
                  </a:tcPr>
                </a:tc>
                <a:extLst>
                  <a:ext uri="{0D108BD9-81ED-4DB2-BD59-A6C34878D82A}">
                    <a16:rowId xmlns:a16="http://schemas.microsoft.com/office/drawing/2014/main" val="10000"/>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Satisfaction Score</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-1.4427</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0.0351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-41.11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&lt;0.001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0.236</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E84A5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extLst>
                  <a:ext uri="{0D108BD9-81ED-4DB2-BD59-A6C34878D82A}">
                    <a16:rowId xmlns:a16="http://schemas.microsoft.com/office/drawing/2014/main" val="10001"/>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Contract Type (Yearly)</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-1.4212</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0.0742</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-19.14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&lt;0.001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0.241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E84A5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Support Tickets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+0.6517</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0.0184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+35.37</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&lt;0.001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1.919</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E84A5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extLst>
                  <a:ext uri="{0D108BD9-81ED-4DB2-BD59-A6C34878D82A}">
                    <a16:rowId xmlns:a16="http://schemas.microsoft.com/office/drawing/2014/main" val="10003"/>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Days Since Last Login</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+0.0927</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0.0027</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+34.52</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&lt;0.001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1.097</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E84A5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Tenure (months)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-0.0501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0.0036</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-13.84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&lt;0.001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0.951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E84A5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extLst>
                  <a:ext uri="{0D108BD9-81ED-4DB2-BD59-A6C34878D82A}">
                    <a16:rowId xmlns:a16="http://schemas.microsoft.com/office/drawing/2014/main" val="10005"/>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Usage Frequency</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+0.3992</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0.1304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+3.06</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0.002</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1.491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E84A5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Monthly Charges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-0.0087</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0.0033</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-2.64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0.008</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0.991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E84A5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extLst>
                  <a:ext uri="{0D108BD9-81ED-4DB2-BD59-A6C34878D82A}">
                    <a16:rowId xmlns:a16="http://schemas.microsoft.com/office/drawing/2014/main" val="10007"/>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Subscription Type</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+0.2545</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0.1491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+1.71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0.088</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1.290</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n.s.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Income Level</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-0.0894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0.0549</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-1.63</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0.103</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0.915</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n.s.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extLst>
                  <a:ext uri="{0D108BD9-81ED-4DB2-BD59-A6C34878D82A}">
                    <a16:rowId xmlns:a16="http://schemas.microsoft.com/office/drawing/2014/main" val="10009"/>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Promo Response</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+0.0523</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0.0709</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+0.74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0.461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1.054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n.s.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Discount Used</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+0.0409</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0.0703</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+0.58</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0.560</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1.042</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n.s.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extLst>
                  <a:ext uri="{0D108BD9-81ED-4DB2-BD59-A6C34878D82A}">
                    <a16:rowId xmlns:a16="http://schemas.microsoft.com/office/drawing/2014/main" val="10011"/>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Age</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+0.0007</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0.0029</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+0.22</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0.825</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1.001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n.s.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Avg Session Duration</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+0.0002</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0.0025</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+0.10</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0.924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n.s.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0F5FB"/>
                    </a:solidFill>
                  </a:tcPr>
                </a:tc>
                <a:extLst>
                  <a:ext uri="{0D108BD9-81ED-4DB2-BD59-A6C34878D82A}">
                    <a16:rowId xmlns:a16="http://schemas.microsoft.com/office/drawing/2014/main" val="10013"/>
                  </a:ext>
                </a:extLst>
              </a:tr>
              <a:tr h="260604">
                <a:tc>
                  <a:txBody>
                    <a:bodyPr/>
                    <a:lstStyle/>
                    <a:p>
                      <a:pPr marL="0" indent="0" algn="l">
                        <a:buNone/>
                      </a:pPr>
                      <a:r>
                        <a:rPr lang="en-US" sz="1050" b="1" dirty="0">
                          <a:solidFill>
                            <a:srgbClr val="1A1A2E"/>
                          </a:solidFill>
                          <a:latin typeface="Calibri" pitchFamily="34" charset="0"/>
                          <a:ea typeface="Calibri" pitchFamily="34" charset="-122"/>
                          <a:cs typeface="Calibri" pitchFamily="34" charset="-120"/>
                        </a:rPr>
                        <a:t>Logins per Month</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+0.0014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0.0060</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0.811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1.001</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2E"/>
                          </a:solidFill>
                          <a:latin typeface="Calibri" pitchFamily="34" charset="0"/>
                          <a:ea typeface="Calibri" pitchFamily="34" charset="-122"/>
                          <a:cs typeface="Calibri" pitchFamily="34" charset="-120"/>
                        </a:rPr>
                        <a:t>n.s.</a:t>
                      </a:r>
                      <a:endParaRPr lang="en-US" sz="1050" dirty="0">
                        <a:latin typeface="Calibri" charset="0"/>
                        <a:ea typeface="Calibri" charset="0"/>
                        <a:cs typeface="Calibri" charset="0"/>
                      </a:endParaRPr>
                    </a:p>
                  </a:txBody>
                  <a:tcPr>
                    <a:lnL w="6350" cap="flat" cmpd="sng" algn="ctr">
                      <a:solidFill>
                        <a:srgbClr val="A0BCDA"/>
                      </a:solidFill>
                      <a:prstDash val="solid"/>
                      <a:round/>
                      <a:headEnd type="none" w="med" len="med"/>
                      <a:tailEnd type="none" w="med" len="med"/>
                    </a:lnL>
                    <a:lnR w="6350" cap="flat" cmpd="sng" algn="ctr">
                      <a:solidFill>
                        <a:srgbClr val="A0BCDA"/>
                      </a:solidFill>
                      <a:prstDash val="solid"/>
                      <a:round/>
                      <a:headEnd type="none" w="med" len="med"/>
                      <a:tailEnd type="none" w="med" len="med"/>
                    </a:lnR>
                    <a:lnT w="6350" cap="flat" cmpd="sng" algn="ctr">
                      <a:solidFill>
                        <a:srgbClr val="A0BCDA"/>
                      </a:solidFill>
                      <a:prstDash val="solid"/>
                      <a:round/>
                      <a:headEnd type="none" w="med" len="med"/>
                      <a:tailEnd type="none" w="med" len="med"/>
                    </a:lnT>
                    <a:lnB w="6350" cap="flat" cmpd="sng" algn="ctr">
                      <a:solidFill>
                        <a:srgbClr val="A0BCDA"/>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sp>
        <p:nvSpPr>
          <p:cNvPr id="5" name="Text 2"/>
          <p:cNvSpPr/>
          <p:nvPr/>
        </p:nvSpPr>
        <p:spPr>
          <a:xfrm>
            <a:off x="228600" y="4892040"/>
            <a:ext cx="8686800" cy="20116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p&lt;0.001   ** p&lt;0.01   * p&lt;0.05   n.s. = not significant (p≥0.05)   |   McFadden Pseudo-R² = 0.692   |   AUC = 0.973   |   N = 15,000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FF02D5F-663D-8480-1116-54F1FD3EC5D1}"/>
              </a:ext>
            </a:extLst>
          </p:cNvPr>
          <p:cNvSpPr/>
          <p:nvPr/>
        </p:nvSpPr>
        <p:spPr>
          <a:xfrm>
            <a:off x="0" y="0"/>
            <a:ext cx="9144000" cy="629322"/>
          </a:xfrm>
          <a:prstGeom prst="rect">
            <a:avLst/>
          </a:prstGeom>
          <a:solidFill>
            <a:srgbClr val="1C4B82"/>
          </a:solidFill>
          <a:ln/>
        </p:spPr>
        <p:txBody>
          <a:bodyPr numCol="2"/>
          <a:lstStyle/>
          <a:p>
            <a:r>
              <a:rPr lang="en-US" altLang="zh-CN" sz="2800" b="1" dirty="0">
                <a:solidFill>
                  <a:srgbClr val="FFFFFF"/>
                </a:solidFill>
                <a:latin typeface="Calibri" pitchFamily="34" charset="0"/>
                <a:ea typeface="Calibri" pitchFamily="34" charset="-122"/>
                <a:cs typeface="Calibri" pitchFamily="34" charset="-120"/>
              </a:rPr>
              <a:t>Reference</a:t>
            </a:r>
            <a:endParaRPr lang="en-GB" sz="2800" b="1" dirty="0">
              <a:solidFill>
                <a:srgbClr val="FFFFFF"/>
              </a:solidFill>
              <a:latin typeface="Calibri" pitchFamily="34" charset="0"/>
              <a:ea typeface="Calibri" pitchFamily="34" charset="-122"/>
              <a:cs typeface="Calibri" pitchFamily="34" charset="-120"/>
            </a:endParaRPr>
          </a:p>
        </p:txBody>
      </p:sp>
      <p:sp>
        <p:nvSpPr>
          <p:cNvPr id="4" name="TextBox 3">
            <a:extLst>
              <a:ext uri="{FF2B5EF4-FFF2-40B4-BE49-F238E27FC236}">
                <a16:creationId xmlns:a16="http://schemas.microsoft.com/office/drawing/2014/main" id="{1CA0968F-C3D8-F37A-9482-A8AEE32EF042}"/>
              </a:ext>
            </a:extLst>
          </p:cNvPr>
          <p:cNvSpPr txBox="1"/>
          <p:nvPr/>
        </p:nvSpPr>
        <p:spPr>
          <a:xfrm>
            <a:off x="199016" y="809087"/>
            <a:ext cx="8444753" cy="646331"/>
          </a:xfrm>
          <a:prstGeom prst="rect">
            <a:avLst/>
          </a:prstGeom>
          <a:noFill/>
        </p:spPr>
        <p:txBody>
          <a:bodyPr wrap="square">
            <a:spAutoFit/>
          </a:bodyPr>
          <a:lstStyle/>
          <a:p>
            <a:r>
              <a:rPr lang="en-US" dirty="0"/>
              <a:t>Gallo, A. (2014, October 29). </a:t>
            </a:r>
            <a:r>
              <a:rPr lang="en-US" i="1" dirty="0"/>
              <a:t>The value of keeping the right customers</a:t>
            </a:r>
            <a:r>
              <a:rPr lang="en-US" dirty="0"/>
              <a:t>. Harvard Business Review. </a:t>
            </a:r>
            <a:r>
              <a:rPr lang="en-US" dirty="0">
                <a:hlinkClick r:id="rId2"/>
              </a:rPr>
              <a:t>https://hbr.org/2014/10/the-value-of-keeping-the-right-customers</a:t>
            </a:r>
            <a:endParaRPr lang="en-GB" dirty="0"/>
          </a:p>
        </p:txBody>
      </p:sp>
    </p:spTree>
    <p:extLst>
      <p:ext uri="{BB962C8B-B14F-4D97-AF65-F5344CB8AC3E}">
        <p14:creationId xmlns:p14="http://schemas.microsoft.com/office/powerpoint/2010/main" val="1217536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C9A21-02B6-19C9-63F0-56FF16E5B2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7AE27F-3B69-AFFA-9868-58D4D7C4EE60}"/>
              </a:ext>
            </a:extLst>
          </p:cNvPr>
          <p:cNvSpPr/>
          <p:nvPr/>
        </p:nvSpPr>
        <p:spPr>
          <a:xfrm>
            <a:off x="0" y="-5379"/>
            <a:ext cx="9144000" cy="629322"/>
          </a:xfrm>
          <a:prstGeom prst="rect">
            <a:avLst/>
          </a:prstGeom>
          <a:solidFill>
            <a:srgbClr val="1C4B82"/>
          </a:solidFill>
          <a:ln/>
        </p:spPr>
        <p:txBody>
          <a:bodyPr numCol="2"/>
          <a:lstStyle/>
          <a:p>
            <a:r>
              <a:rPr lang="en-US" altLang="zh-CN" sz="2800" b="1" dirty="0">
                <a:solidFill>
                  <a:srgbClr val="FFFFFF"/>
                </a:solidFill>
                <a:latin typeface="Calibri" pitchFamily="34" charset="0"/>
                <a:ea typeface="Calibri" pitchFamily="34" charset="-122"/>
                <a:cs typeface="Calibri" pitchFamily="34" charset="-120"/>
              </a:rPr>
              <a:t>Data and Code</a:t>
            </a:r>
            <a:endParaRPr lang="en-GB" sz="2800" b="1" dirty="0">
              <a:solidFill>
                <a:srgbClr val="FFFFFF"/>
              </a:solidFill>
              <a:latin typeface="Calibri" pitchFamily="34" charset="0"/>
              <a:ea typeface="Calibri" pitchFamily="34" charset="-122"/>
              <a:cs typeface="Calibri" pitchFamily="34" charset="-120"/>
            </a:endParaRPr>
          </a:p>
        </p:txBody>
      </p:sp>
      <p:sp>
        <p:nvSpPr>
          <p:cNvPr id="4" name="TextBox 3">
            <a:extLst>
              <a:ext uri="{FF2B5EF4-FFF2-40B4-BE49-F238E27FC236}">
                <a16:creationId xmlns:a16="http://schemas.microsoft.com/office/drawing/2014/main" id="{C4603912-BCED-C7DA-3487-FBB301E6E97B}"/>
              </a:ext>
            </a:extLst>
          </p:cNvPr>
          <p:cNvSpPr txBox="1"/>
          <p:nvPr/>
        </p:nvSpPr>
        <p:spPr>
          <a:xfrm>
            <a:off x="279699" y="3279759"/>
            <a:ext cx="8444753" cy="369332"/>
          </a:xfrm>
          <a:prstGeom prst="rect">
            <a:avLst/>
          </a:prstGeom>
          <a:noFill/>
        </p:spPr>
        <p:txBody>
          <a:bodyPr wrap="square">
            <a:spAutoFit/>
          </a:bodyPr>
          <a:lstStyle/>
          <a:p>
            <a:r>
              <a:rPr lang="en-GB" dirty="0">
                <a:hlinkClick r:id="rId2"/>
              </a:rPr>
              <a:t>https://github.com/Snazz2001/churn_analysis/blob/main/churn_analysis.ipynb</a:t>
            </a:r>
            <a:endParaRPr lang="en-GB" dirty="0"/>
          </a:p>
        </p:txBody>
      </p:sp>
      <p:sp>
        <p:nvSpPr>
          <p:cNvPr id="5" name="TextBox 4">
            <a:extLst>
              <a:ext uri="{FF2B5EF4-FFF2-40B4-BE49-F238E27FC236}">
                <a16:creationId xmlns:a16="http://schemas.microsoft.com/office/drawing/2014/main" id="{4799BA51-8BCF-9861-7FE7-FCF8EDCB14E8}"/>
              </a:ext>
            </a:extLst>
          </p:cNvPr>
          <p:cNvSpPr txBox="1"/>
          <p:nvPr/>
        </p:nvSpPr>
        <p:spPr>
          <a:xfrm>
            <a:off x="199016" y="848079"/>
            <a:ext cx="7992932" cy="646331"/>
          </a:xfrm>
          <a:prstGeom prst="rect">
            <a:avLst/>
          </a:prstGeom>
          <a:noFill/>
        </p:spPr>
        <p:txBody>
          <a:bodyPr wrap="square">
            <a:spAutoFit/>
          </a:bodyPr>
          <a:lstStyle/>
          <a:p>
            <a:r>
              <a:rPr lang="en-GB" dirty="0">
                <a:hlinkClick r:id="rId3"/>
              </a:rPr>
              <a:t>https://www.kaggle.com/datasets/theaimindset/customer-behavior-and-churn-simulation-dataset</a:t>
            </a:r>
            <a:endParaRPr lang="en-GB" dirty="0"/>
          </a:p>
        </p:txBody>
      </p:sp>
      <p:sp>
        <p:nvSpPr>
          <p:cNvPr id="7" name="TextBox 6">
            <a:extLst>
              <a:ext uri="{FF2B5EF4-FFF2-40B4-BE49-F238E27FC236}">
                <a16:creationId xmlns:a16="http://schemas.microsoft.com/office/drawing/2014/main" id="{99963ADD-DF21-395F-80FD-6548740F127F}"/>
              </a:ext>
            </a:extLst>
          </p:cNvPr>
          <p:cNvSpPr txBox="1"/>
          <p:nvPr/>
        </p:nvSpPr>
        <p:spPr>
          <a:xfrm>
            <a:off x="199016" y="1556087"/>
            <a:ext cx="7819090" cy="2031325"/>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C4043"/>
                </a:solidFill>
                <a:effectLst/>
                <a:latin typeface="Inter"/>
              </a:rPr>
              <a:t>The dataset simulates customer behavior across a </a:t>
            </a:r>
            <a:r>
              <a:rPr lang="en-US" b="1" i="0" dirty="0">
                <a:solidFill>
                  <a:srgbClr val="3C4043"/>
                </a:solidFill>
                <a:effectLst/>
                <a:latin typeface="Inter"/>
              </a:rPr>
              <a:t>12--24 month subscription lifecycle</a:t>
            </a:r>
            <a:r>
              <a:rPr lang="en-US" b="0" i="0" dirty="0">
                <a:solidFill>
                  <a:srgbClr val="3C4043"/>
                </a:solidFill>
                <a:effectLst/>
                <a:latin typeface="Inter"/>
              </a:rPr>
              <a:t>, enabling meaningful behavioral and retention analysis.</a:t>
            </a:r>
          </a:p>
          <a:p>
            <a:pPr marL="285750" indent="-285750">
              <a:buFont typeface="Arial" panose="020B0604020202020204" pitchFamily="34" charset="0"/>
              <a:buChar char="•"/>
            </a:pPr>
            <a:r>
              <a:rPr lang="en-US" dirty="0">
                <a:solidFill>
                  <a:srgbClr val="3C4043"/>
                </a:solidFill>
                <a:latin typeface="Inter"/>
              </a:rPr>
              <a:t>Total Records: 15000</a:t>
            </a:r>
          </a:p>
          <a:p>
            <a:pPr marL="285750" indent="-285750">
              <a:buFont typeface="Arial" panose="020B0604020202020204" pitchFamily="34" charset="0"/>
              <a:buChar char="•"/>
            </a:pPr>
            <a:r>
              <a:rPr lang="en-US" dirty="0">
                <a:solidFill>
                  <a:srgbClr val="3C4043"/>
                </a:solidFill>
                <a:latin typeface="Inter"/>
              </a:rPr>
              <a:t>Total Features: 21</a:t>
            </a:r>
          </a:p>
          <a:p>
            <a:pPr marL="285750" indent="-285750">
              <a:buFont typeface="Arial" panose="020B0604020202020204" pitchFamily="34" charset="0"/>
              <a:buChar char="•"/>
            </a:pPr>
            <a:r>
              <a:rPr lang="en-US" dirty="0">
                <a:solidFill>
                  <a:srgbClr val="3C4043"/>
                </a:solidFill>
                <a:latin typeface="Inter"/>
              </a:rPr>
              <a:t>Data Type: csv</a:t>
            </a:r>
          </a:p>
          <a:p>
            <a:r>
              <a:rPr lang="en-US" altLang="zh-CN" b="1" dirty="0">
                <a:solidFill>
                  <a:srgbClr val="3C4043"/>
                </a:solidFill>
                <a:latin typeface="Inter"/>
              </a:rPr>
              <a:t>Code</a:t>
            </a:r>
            <a:endParaRPr lang="en-US" b="1" dirty="0">
              <a:solidFill>
                <a:srgbClr val="3C4043"/>
              </a:solidFill>
              <a:latin typeface="Inter"/>
            </a:endParaRPr>
          </a:p>
          <a:p>
            <a:endParaRPr lang="en-GB" dirty="0"/>
          </a:p>
        </p:txBody>
      </p:sp>
      <p:sp>
        <p:nvSpPr>
          <p:cNvPr id="9" name="TextBox 8">
            <a:extLst>
              <a:ext uri="{FF2B5EF4-FFF2-40B4-BE49-F238E27FC236}">
                <a16:creationId xmlns:a16="http://schemas.microsoft.com/office/drawing/2014/main" id="{A0BD9453-CB11-72F0-7697-6074953A5CC1}"/>
              </a:ext>
            </a:extLst>
          </p:cNvPr>
          <p:cNvSpPr txBox="1"/>
          <p:nvPr/>
        </p:nvSpPr>
        <p:spPr>
          <a:xfrm>
            <a:off x="192795" y="3649089"/>
            <a:ext cx="900696" cy="369332"/>
          </a:xfrm>
          <a:prstGeom prst="rect">
            <a:avLst/>
          </a:prstGeom>
          <a:noFill/>
        </p:spPr>
        <p:txBody>
          <a:bodyPr wrap="none" rtlCol="0">
            <a:spAutoFit/>
          </a:bodyPr>
          <a:lstStyle/>
          <a:p>
            <a:r>
              <a:rPr lang="en-US" altLang="zh-CN" b="1" dirty="0"/>
              <a:t>Prompt</a:t>
            </a:r>
            <a:endParaRPr lang="en-GB" b="1" dirty="0"/>
          </a:p>
        </p:txBody>
      </p:sp>
      <p:sp>
        <p:nvSpPr>
          <p:cNvPr id="11" name="TextBox 10">
            <a:extLst>
              <a:ext uri="{FF2B5EF4-FFF2-40B4-BE49-F238E27FC236}">
                <a16:creationId xmlns:a16="http://schemas.microsoft.com/office/drawing/2014/main" id="{09AA9FC4-228A-D02F-D376-1FCF8DE6CF37}"/>
              </a:ext>
            </a:extLst>
          </p:cNvPr>
          <p:cNvSpPr txBox="1"/>
          <p:nvPr/>
        </p:nvSpPr>
        <p:spPr>
          <a:xfrm>
            <a:off x="274766" y="3972255"/>
            <a:ext cx="7917181" cy="369332"/>
          </a:xfrm>
          <a:prstGeom prst="rect">
            <a:avLst/>
          </a:prstGeom>
          <a:noFill/>
        </p:spPr>
        <p:txBody>
          <a:bodyPr wrap="square">
            <a:spAutoFit/>
          </a:bodyPr>
          <a:lstStyle/>
          <a:p>
            <a:r>
              <a:rPr lang="en-GB" dirty="0">
                <a:hlinkClick r:id="rId4"/>
              </a:rPr>
              <a:t>https://github.com/Snazz2001/churn_analysis/blob/main/impact_estimation.md</a:t>
            </a:r>
            <a:endParaRPr lang="en-GB" dirty="0"/>
          </a:p>
        </p:txBody>
      </p:sp>
    </p:spTree>
    <p:extLst>
      <p:ext uri="{BB962C8B-B14F-4D97-AF65-F5344CB8AC3E}">
        <p14:creationId xmlns:p14="http://schemas.microsoft.com/office/powerpoint/2010/main" val="1949605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961</TotalTime>
  <Words>1863</Words>
  <Application>Microsoft Office PowerPoint</Application>
  <PresentationFormat>On-screen Show (16:9)</PresentationFormat>
  <Paragraphs>337</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Inter</vt:lpstr>
      <vt:lpstr>Open Sauce</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Strategic Analytics Division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Analysis – Management Presentation</dc:title>
  <dc:subject>PptxGenJS Presentation</dc:subject>
  <dc:creator>Business Data Analyst</dc:creator>
  <cp:lastModifiedBy>Lei Zhu</cp:lastModifiedBy>
  <cp:revision>5</cp:revision>
  <dcterms:created xsi:type="dcterms:W3CDTF">2026-02-19T11:14:42Z</dcterms:created>
  <dcterms:modified xsi:type="dcterms:W3CDTF">2026-02-22T17:13:56Z</dcterms:modified>
</cp:coreProperties>
</file>